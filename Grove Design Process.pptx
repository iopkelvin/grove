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95996d4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695996d4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695996d41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95996d41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695996d41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695996d41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95996d4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f695996d4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695996d41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turner</a:t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turner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dawn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relaxed-intelligent-einstein/mnt/outputs/t2/hero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8514" y="1359438"/>
            <a:ext cx="5125211" cy="539496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868680" y="3493008"/>
            <a:ext cx="6400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4A6B4D"/>
                </a:solidFill>
                <a:latin typeface="Georgia"/>
                <a:ea typeface="Georgia"/>
                <a:cs typeface="Georgia"/>
                <a:sym typeface="Georgia"/>
              </a:rPr>
              <a:t>Grow together, one task at a time.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1847088"/>
            <a:ext cx="6400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9600"/>
              <a:buFont typeface="Georgia"/>
              <a:buNone/>
            </a:pPr>
            <a:r>
              <a:rPr b="0" i="0" lang="en-US" sz="9600" u="none" cap="none" strike="noStrike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Grove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morning_floor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84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Problem &amp; Target Users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Picture 27" descr="tree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" y="4750000"/>
            <a:ext cx="2100000" cy="2044737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00000" y="1150000"/>
            <a:ext cx="10990000" cy="1500000"/>
          </a:xfrm>
          <a:prstGeom prst="roundRect">
            <a:avLst>
              <a:gd name="adj" fmla="val 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000" rIns="400000" tIns="260000" bIns="26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6B4D"/>
                </a:solidFill>
                <a:latin typeface="Calibri"/>
              </a:rPr>
              <a:t>THE PROBLEM</a:t>
            </a:r>
          </a:p>
          <a:p>
            <a:pPr algn="l">
              <a:lnSpc>
                <a:spcPct val="115000"/>
              </a:lnSpc>
            </a:pPr>
            <a:r>
              <a:rPr sz="1700">
                <a:solidFill>
                  <a:srgbClr val="1A1A1A"/>
                </a:solidFill>
                <a:latin typeface="Newsreader"/>
              </a:rPr>
              <a:t>Starting something new is hard, whether it's a habit or an assignment. It's easy to keep putting it off, and doing it alone makes it worse, since there's no one around to keep you accountable.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0000" y="2950000"/>
            <a:ext cx="10990000" cy="1250000"/>
          </a:xfrm>
          <a:prstGeom prst="roundRect">
            <a:avLst>
              <a:gd name="adj" fmla="val 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000" rIns="400000" tIns="260000" bIns="26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6B4D"/>
                </a:solidFill>
                <a:latin typeface="Calibri"/>
              </a:rPr>
              <a:t>WHO IT'S FOR</a:t>
            </a:r>
          </a:p>
          <a:p>
            <a:pPr algn="l">
              <a:lnSpc>
                <a:spcPct val="115000"/>
              </a:lnSpc>
            </a:pPr>
            <a:r>
              <a:rPr sz="1700">
                <a:solidFill>
                  <a:srgbClr val="1A1A1A"/>
                </a:solidFill>
                <a:latin typeface="Newsreader"/>
              </a:rPr>
              <a:t>Anyone trying to build better habits or stay on top of their workload, who gets more done with someone else around.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midday_floor.pn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Needfinding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00000" y="1150000"/>
            <a:ext cx="10990000" cy="1500000"/>
          </a:xfrm>
          <a:prstGeom prst="roundRect">
            <a:avLst>
              <a:gd name="adj" fmla="val 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000" rIns="400000" tIns="260000" bIns="26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6B4D"/>
                </a:solidFill>
                <a:latin typeface="Calibri"/>
              </a:rPr>
              <a:t>WHO WE TALKED TO</a:t>
            </a:r>
          </a:p>
          <a:p>
            <a:pPr algn="l">
              <a:lnSpc>
                <a:spcPct val="115000"/>
              </a:lnSpc>
            </a:pPr>
            <a:r>
              <a:rPr sz="1700">
                <a:solidFill>
                  <a:srgbClr val="1A1A1A"/>
                </a:solidFill>
                <a:latin typeface="Newsreader"/>
              </a:rPr>
              <a:t>We sat down with people to understand how they manage day-to-day tasks. We wanted to know what gets in their way, and what it costs them emotionally when the work feels like something to avoid.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0000" y="2950000"/>
            <a:ext cx="10990000" cy="1800000"/>
          </a:xfrm>
          <a:prstGeom prst="roundRect">
            <a:avLst>
              <a:gd name="adj" fmla="val 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20000" rIns="400000" tIns="260000" bIns="26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6B4D"/>
                </a:solidFill>
                <a:latin typeface="Calibri"/>
              </a:rPr>
              <a:t>WHAT WE FOUND</a:t>
            </a:r>
          </a:p>
          <a:p>
            <a:pPr algn="l">
              <a:lnSpc>
                <a:spcPct val="115000"/>
              </a:lnSpc>
            </a:pPr>
            <a:r>
              <a:rPr sz="1700">
                <a:solidFill>
                  <a:srgbClr val="1A1A1A"/>
                </a:solidFill>
                <a:latin typeface="Newsreader"/>
              </a:rPr>
              <a:t>Starting was hard for everyone we talked to, whether it was low motivation, distractions at home, or negative feelings tied to the task itself. For most, it got easier in a calmer, more comfortable space, or with other people nearby. Feeling truly finished was harder — some said they never really felt done, even after finishing their 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000" y="5000000"/>
            <a:ext cx="1099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i="1">
                <a:solidFill>
                  <a:srgbClr val="1A1A1A"/>
                </a:solidFill>
                <a:latin typeface="Newsreader"/>
              </a:rPr>
              <a:t>“How might we help someone feel supported enough to start, and know when they’re truly done?”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golden.png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371600" y="1170432"/>
            <a:ext cx="9445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04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0" y="1783080"/>
            <a:ext cx="3047238" cy="5074920"/>
          </a:xfrm>
          <a:prstGeom prst="rect">
            <a:avLst/>
          </a:prstGeom>
          <a:solidFill>
            <a:srgbClr val="F6D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3047238" y="1783080"/>
            <a:ext cx="3047238" cy="5074920"/>
          </a:xfrm>
          <a:prstGeom prst="rect">
            <a:avLst/>
          </a:prstGeom>
          <a:solidFill>
            <a:srgbClr val="C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094476" y="1783080"/>
            <a:ext cx="3047238" cy="5074920"/>
          </a:xfrm>
          <a:prstGeom prst="rect">
            <a:avLst/>
          </a:prstGeom>
          <a:solidFill>
            <a:srgbClr val="F7D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9141714" y="1783080"/>
            <a:ext cx="3047238" cy="5074920"/>
          </a:xfrm>
          <a:prstGeom prst="rect">
            <a:avLst/>
          </a:prstGeom>
          <a:solidFill>
            <a:srgbClr val="DC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0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4E76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A34E76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0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4E7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34E7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spring.png"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63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137160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047238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543A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35543A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047238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54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5543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summer.png" id="61" name="Google Shape;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4101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3184398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094476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4526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9C4526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094476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452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C452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fall.png" id="65" name="Google Shape;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1339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6231636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9141714" y="1993392"/>
            <a:ext cx="304723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6E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44606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141714" y="2450592"/>
            <a:ext cx="30472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6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4606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relaxed-intelligent-einstein/mnt/outputs/t2/winter.png" id="69" name="Google Shape;6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8577" y="3277392"/>
            <a:ext cx="295351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9278874" y="6172200"/>
            <a:ext cx="27729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07415" y="1579880"/>
            <a:ext cx="1109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91D"/>
              </a:buClr>
              <a:buSzPts val="3800"/>
              <a:buFont typeface="Georgia"/>
              <a:buNone/>
            </a:pPr>
            <a:r>
              <a:rPr lang="en-US" sz="3800">
                <a:solidFill>
                  <a:srgbClr val="22291D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Lo-Fi Prototyping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golden.png"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/>
          <p:nvPr/>
        </p:nvSpPr>
        <p:spPr>
          <a:xfrm>
            <a:off x="1371600" y="1170432"/>
            <a:ext cx="94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04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37160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184398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231636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9278874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Hi</a:t>
            </a: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-Fi Prototyping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golden.png"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1371600" y="1170432"/>
            <a:ext cx="94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04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5560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37160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3184398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231636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9278874" y="6172200"/>
            <a:ext cx="277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62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2C3628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cool.png"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777254" y="960125"/>
            <a:ext cx="9650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777251" y="2270275"/>
            <a:ext cx="6629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777251" y="51254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1097293" y="5418008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1097293" y="5674040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097293" y="602151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777246" y="36515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1097280" y="3944106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1097280" y="4200138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97280" y="454761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User Evaluation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cool.png"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777254" y="960125"/>
            <a:ext cx="9650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777251" y="2270275"/>
            <a:ext cx="6629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77251" y="51254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1097293" y="5418008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1097293" y="5674040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097293" y="6021512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77246" y="3651500"/>
            <a:ext cx="2447100" cy="1280100"/>
          </a:xfrm>
          <a:prstGeom prst="roundRect">
            <a:avLst>
              <a:gd fmla="val 11429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1097280" y="3944106"/>
            <a:ext cx="146400" cy="146400"/>
          </a:xfrm>
          <a:prstGeom prst="ellipse">
            <a:avLst/>
          </a:prstGeom>
          <a:solidFill>
            <a:srgbClr val="A8C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1097280" y="4200138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700"/>
              <a:buFont typeface="Georgia"/>
              <a:buNone/>
            </a:pPr>
            <a:r>
              <a:rPr lang="en-US" sz="17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097280" y="454761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Reflection / Next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ep.png"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777250" y="960122"/>
            <a:ext cx="76809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77253" y="3768075"/>
            <a:ext cx="8970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B4A3"/>
              </a:buClr>
              <a:buSzPts val="1600"/>
              <a:buFont typeface="Calibri"/>
              <a:buNone/>
            </a:pPr>
            <a:r>
              <a:rPr lang="en-US" sz="2400">
                <a:solidFill>
                  <a:srgbClr val="A9B4A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Demo Video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deep.png" id="145" name="Google Shape;1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2"/>
          <p:cNvSpPr/>
          <p:nvPr/>
        </p:nvSpPr>
        <p:spPr>
          <a:xfrm>
            <a:off x="4381500" y="2455262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4728960" y="2510040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8194525" y="2455264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8542008" y="2510040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381488" y="3579839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4728971" y="3634614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8194550" y="3579839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8542033" y="3634614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68475" y="2455287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915935" y="2510065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568450" y="3579862"/>
            <a:ext cx="3429000" cy="822900"/>
          </a:xfrm>
          <a:prstGeom prst="roundRect">
            <a:avLst>
              <a:gd fmla="val 5614" name="adj"/>
            </a:avLst>
          </a:prstGeom>
          <a:solidFill>
            <a:srgbClr val="262B27"/>
          </a:solidFill>
          <a:ln cap="flat" cmpd="sng" w="12700">
            <a:solidFill>
              <a:srgbClr val="3D4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915910" y="3634639"/>
            <a:ext cx="27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77240" y="56692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relaxed-intelligent-einstein/mnt/outputs/bg2/night_close.png"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relaxed-intelligent-einstein/mnt/outputs/t2/closehero_night.png" id="165" name="Google Shape;1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418" y="2622591"/>
            <a:ext cx="3214116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548640" y="91440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F1E9"/>
              </a:buClr>
              <a:buSzPts val="4000"/>
              <a:buFont typeface="Georgia"/>
              <a:buNone/>
            </a:pPr>
            <a:r>
              <a:rPr b="0" i="1" lang="en-US" sz="4000" u="none" cap="none" strike="noStrike">
                <a:solidFill>
                  <a:srgbClr val="EFF1E9"/>
                </a:solidFill>
                <a:latin typeface="Georgia"/>
                <a:ea typeface="Georgia"/>
                <a:cs typeface="Georgia"/>
                <a:sym typeface="Georgia"/>
              </a:rPr>
              <a:t>Grow together.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5AE6B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D5AE6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