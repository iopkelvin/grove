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turner</a:t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turner</a:t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89198b0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989198b0d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turner</a:t>
            </a:r>
            <a:endParaRPr/>
          </a:p>
        </p:txBody>
      </p:sp>
      <p:sp>
        <p:nvSpPr>
          <p:cNvPr id="127" name="Google Shape;127;g3f989198b0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not the only users..</a:t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morning_floor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84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777240" y="566903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77250" y="1302475"/>
            <a:ext cx="6799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300"/>
              <a:buFont typeface="Georgia"/>
              <a:buNone/>
            </a:pPr>
            <a:r>
              <a:rPr lang="en-US" sz="3300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Starting a new habit is difficult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18518" y="3039775"/>
            <a:ext cx="5892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300"/>
              <a:buFont typeface="Georgia"/>
              <a:buNone/>
            </a:pPr>
            <a:r>
              <a:rPr lang="en-US" sz="3300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Doing it alone makes it harder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g01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0717" y="2910184"/>
            <a:ext cx="2996946" cy="3154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dawn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relaxed-intelligent-einstein/mnt/outputs/t2/hero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8514" y="1359438"/>
            <a:ext cx="5125211" cy="539496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868680" y="3493008"/>
            <a:ext cx="6400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4A6B4D"/>
                </a:solidFill>
                <a:latin typeface="Georgia"/>
                <a:ea typeface="Georgia"/>
                <a:cs typeface="Georgia"/>
                <a:sym typeface="Georgia"/>
              </a:rPr>
              <a:t>Grow together, one task at a time.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22960" y="1847088"/>
            <a:ext cx="6400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9600"/>
              <a:buFont typeface="Georgia"/>
              <a:buNone/>
            </a:pPr>
            <a:r>
              <a:rPr b="0" i="0" lang="en-US" sz="960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Grove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midday_floor.png"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777240" y="5669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The Growth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77240" y="960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400"/>
              <a:buFont typeface="Georgia"/>
              <a:buNone/>
            </a:pPr>
            <a:r>
              <a:rPr lang="en-US" sz="3400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Complete daily tasks to grow your tree.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083615" y="2107324"/>
            <a:ext cx="128100" cy="128100"/>
          </a:xfrm>
          <a:prstGeom prst="ellipse">
            <a:avLst/>
          </a:prstGeom>
          <a:solidFill>
            <a:srgbClr val="4A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437550" y="2101159"/>
            <a:ext cx="27456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r>
              <a:rPr b="1" i="0" lang="en-US" sz="165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One level a day</a:t>
            </a:r>
            <a:endParaRPr b="1" i="0" sz="1650" u="none" cap="none" strike="noStrike">
              <a:solidFill>
                <a:srgbClr val="2229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br>
              <a:rPr b="1" i="0" lang="en-US" sz="155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3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The only way up is coming back.</a:t>
            </a:r>
            <a:endParaRPr b="1" i="0" sz="1650" u="none" cap="none" strike="noStrike">
              <a:solidFill>
                <a:srgbClr val="2229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r>
              <a:t/>
            </a:r>
            <a:endParaRPr b="1" sz="1550">
              <a:solidFill>
                <a:srgbClr val="2229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r>
              <a:t/>
            </a:r>
            <a:endParaRPr b="1" sz="1550">
              <a:solidFill>
                <a:srgbClr val="22291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030433" y="2107334"/>
            <a:ext cx="128100" cy="128100"/>
          </a:xfrm>
          <a:prstGeom prst="ellipse">
            <a:avLst/>
          </a:prstGeom>
          <a:solidFill>
            <a:srgbClr val="4A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327750" y="2082191"/>
            <a:ext cx="24393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r>
              <a:rPr b="1" i="0" lang="en-US" sz="165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Seeded per user</a:t>
            </a:r>
            <a:br>
              <a:rPr b="1" i="0" lang="en-US" sz="155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i="0" lang="en-US" sz="155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3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No two trees match.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550"/>
              <a:buFont typeface="Georgia"/>
              <a:buNone/>
            </a:pPr>
            <a:r>
              <a:t/>
            </a:r>
            <a:endParaRPr b="1" sz="1550">
              <a:solidFill>
                <a:srgbClr val="22291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sessions/relaxed-intelligent-einstein/mnt/outputs/t2/g01.png"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342" y="2825359"/>
            <a:ext cx="2996946" cy="315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942975" y="583387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46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4633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g12.png" id="44" name="Google Shape;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0790" y="2825359"/>
            <a:ext cx="2996946" cy="315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4517661" y="5833872"/>
            <a:ext cx="2011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46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4633"/>
                </a:solidFill>
                <a:latin typeface="Calibri"/>
                <a:ea typeface="Calibri"/>
                <a:cs typeface="Calibri"/>
                <a:sym typeface="Calibri"/>
              </a:rPr>
              <a:t>LEVEL 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g20.png" id="46" name="Google Shape;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439" y="2825359"/>
            <a:ext cx="2996946" cy="315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8585197" y="5833872"/>
            <a:ext cx="2011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46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4633"/>
                </a:solidFill>
                <a:latin typeface="Calibri"/>
                <a:ea typeface="Calibri"/>
                <a:cs typeface="Calibri"/>
                <a:sym typeface="Calibri"/>
              </a:rPr>
              <a:t>LEVEL 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golden.png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800"/>
              <a:buFont typeface="Georgia"/>
              <a:buNone/>
            </a:pPr>
            <a:r>
              <a:rPr b="0" i="0" lang="en-US" sz="380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Then it starts living.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371600" y="1170432"/>
            <a:ext cx="9445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04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From level 21 the tree</a:t>
            </a:r>
            <a:r>
              <a:rPr lang="en-US" sz="14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50" u="none" cap="none" strike="noStrike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cycles through the seasons — changing a little every day.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0" y="1783080"/>
            <a:ext cx="3047238" cy="5074920"/>
          </a:xfrm>
          <a:prstGeom prst="rect">
            <a:avLst/>
          </a:prstGeom>
          <a:solidFill>
            <a:srgbClr val="F6D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3047238" y="1783080"/>
            <a:ext cx="3047238" cy="5074920"/>
          </a:xfrm>
          <a:prstGeom prst="rect">
            <a:avLst/>
          </a:prstGeom>
          <a:solidFill>
            <a:srgbClr val="C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094476" y="1783080"/>
            <a:ext cx="3047238" cy="5074920"/>
          </a:xfrm>
          <a:prstGeom prst="rect">
            <a:avLst/>
          </a:prstGeom>
          <a:solidFill>
            <a:srgbClr val="F7D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141714" y="1783080"/>
            <a:ext cx="3047238" cy="5074920"/>
          </a:xfrm>
          <a:prstGeom prst="rect">
            <a:avLst/>
          </a:prstGeom>
          <a:solidFill>
            <a:srgbClr val="DC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0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4E7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A34E76"/>
                </a:solidFill>
                <a:latin typeface="Georgia"/>
                <a:ea typeface="Georgia"/>
                <a:cs typeface="Georgia"/>
                <a:sym typeface="Georgia"/>
              </a:rPr>
              <a:t>Spring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0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4E7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4E76"/>
                </a:solidFill>
                <a:latin typeface="Calibri"/>
                <a:ea typeface="Calibri"/>
                <a:cs typeface="Calibri"/>
                <a:sym typeface="Calibri"/>
              </a:rPr>
              <a:t>LEVELS 21 – 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spring.png" id="62" name="Google Shape;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63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137160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buds open into blossom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047238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543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35543A"/>
                </a:solidFill>
                <a:latin typeface="Georgia"/>
                <a:ea typeface="Georgia"/>
                <a:cs typeface="Georgia"/>
                <a:sym typeface="Georgia"/>
              </a:rPr>
              <a:t>Summer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047238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54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5543A"/>
                </a:solidFill>
                <a:latin typeface="Calibri"/>
                <a:ea typeface="Calibri"/>
                <a:cs typeface="Calibri"/>
                <a:sym typeface="Calibri"/>
              </a:rPr>
              <a:t>LEVELS 41 – 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summer.png" id="66" name="Google Shape;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4101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3184398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deep green, and it fruits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094476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452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9C4526"/>
                </a:solidFill>
                <a:latin typeface="Georgia"/>
                <a:ea typeface="Georgia"/>
                <a:cs typeface="Georgia"/>
                <a:sym typeface="Georgia"/>
              </a:rPr>
              <a:t>Fall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094476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45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C4526"/>
                </a:solidFill>
                <a:latin typeface="Calibri"/>
                <a:ea typeface="Calibri"/>
                <a:cs typeface="Calibri"/>
                <a:sym typeface="Calibri"/>
              </a:rPr>
              <a:t>LEVELS 61 – 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fall.png" id="70" name="Google Shape;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1339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6231636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leaves turn, then let 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141714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6E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4606E"/>
                </a:solidFill>
                <a:latin typeface="Georgia"/>
                <a:ea typeface="Georgia"/>
                <a:cs typeface="Georgia"/>
                <a:sym typeface="Georgia"/>
              </a:rPr>
              <a:t>Winter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141714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606E"/>
                </a:solidFill>
                <a:latin typeface="Calibri"/>
                <a:ea typeface="Calibri"/>
                <a:cs typeface="Calibri"/>
                <a:sym typeface="Calibri"/>
              </a:rPr>
              <a:t>LEVELS 81 –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winter.png" id="74" name="Google Shape;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8577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9278874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Draped in winter snow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cool.png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777240" y="5669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C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CC8C"/>
                </a:solidFill>
                <a:latin typeface="Calibri"/>
                <a:ea typeface="Calibri"/>
                <a:cs typeface="Calibri"/>
                <a:sym typeface="Calibri"/>
              </a:rPr>
              <a:t>TASKS &amp; CALENDAR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777254" y="960125"/>
            <a:ext cx="9650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Rich task organization – tags and dates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777251" y="2270275"/>
            <a:ext cx="6629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Tasks have several organizational features, including Due Dates and Tags.</a:t>
            </a:r>
            <a:r>
              <a:rPr lang="en-US" sz="160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In a future implementation, tasks could be organized in a calendar via their due dates. 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77251" y="51254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097293" y="5418008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097293" y="5674040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Due dates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097293" y="602151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Tasks can be assigned to a day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77246" y="36515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097280" y="3944106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1097280" y="4200138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Tags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097280" y="454761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For more granular organization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7" title="Screenshot 2026-08-05 at 9.43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0900" y="3651500"/>
            <a:ext cx="3954959" cy="246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 title="Screenshot 2026-08-05 at 10.14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5967" y="4036781"/>
            <a:ext cx="2593255" cy="20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ep.png"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777240" y="5669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STUDY 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777250" y="960122"/>
            <a:ext cx="76809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Humans are social animals!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777253" y="3768075"/>
            <a:ext cx="8970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600"/>
              <a:buFont typeface="Calibri"/>
              <a:buNone/>
            </a:pPr>
            <a:r>
              <a:rPr lang="en-US" sz="240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The study rooms focus on having a secondary place to hang out with peers and friends to complete tasks.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ep.png"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777240" y="5669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INSIDE A 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381500" y="2455262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4728960" y="2510040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Chat</a:t>
            </a: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 with peers!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194525" y="2455264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8542008" y="2510040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Invite </a:t>
            </a: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people!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381488" y="3579839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4728971" y="3634614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Study timer…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194550" y="3579839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8542033" y="3634614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Interactive.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777240" y="960120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68475" y="2455287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915935" y="2510065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Custom Rooms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68450" y="3579862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915910" y="3634639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Background Music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ep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STUDY 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0" title="library-study-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721" y="1116674"/>
            <a:ext cx="3657600" cy="244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0" title="poker-table-room-stud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725" y="3820326"/>
            <a:ext cx="36576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 title="mars-room-study.png"/>
          <p:cNvPicPr preferRelativeResize="0"/>
          <p:nvPr/>
        </p:nvPicPr>
        <p:blipFill rotWithShape="1">
          <a:blip r:embed="rId6">
            <a:alphaModFix/>
          </a:blip>
          <a:srcRect b="0" l="0" r="0" t="24998"/>
          <a:stretch/>
        </p:blipFill>
        <p:spPr>
          <a:xfrm>
            <a:off x="6190250" y="1116675"/>
            <a:ext cx="3657600" cy="274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0" title="Study-Roo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0242" y="4327825"/>
            <a:ext cx="3657600" cy="223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mo.png" id="140" name="Google Shape;1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5000"/>
              <a:buFont typeface="Georgia"/>
              <a:buNone/>
            </a:pPr>
            <a:r>
              <a:rPr b="0" i="0" lang="en-US" sz="50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777240" y="2788920"/>
            <a:ext cx="3429000" cy="2468880"/>
          </a:xfrm>
          <a:prstGeom prst="roundRect">
            <a:avLst>
              <a:gd fmla="val 5926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1124712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D5AE6B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124712" y="3703320"/>
            <a:ext cx="2734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Make it yours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124712" y="4142232"/>
            <a:ext cx="27340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Log in, set your photo and bio, add a friend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590288" y="2788920"/>
            <a:ext cx="3429000" cy="2468880"/>
          </a:xfrm>
          <a:prstGeom prst="roundRect">
            <a:avLst>
              <a:gd fmla="val 5926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4937760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D5AE6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937760" y="3703320"/>
            <a:ext cx="2734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Plan and finish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4937760" y="4142232"/>
            <a:ext cx="27340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Add homework #1, see it on the calendar, check it off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8403336" y="2788920"/>
            <a:ext cx="3429000" cy="2468880"/>
          </a:xfrm>
          <a:prstGeom prst="roundRect">
            <a:avLst>
              <a:gd fmla="val 5926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8750808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D5AE6B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8750808" y="3703320"/>
            <a:ext cx="2734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Study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750808" y="4142232"/>
            <a:ext cx="27340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Open the lobby, create a room, invite your friend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midday_floor.png" id="159" name="Google Shape;1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2"/>
          <p:cNvSpPr/>
          <p:nvPr/>
        </p:nvSpPr>
        <p:spPr>
          <a:xfrm>
            <a:off x="1046976" y="665771"/>
            <a:ext cx="7847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i="0" lang="en-US" sz="31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046978" y="2843770"/>
            <a:ext cx="1051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400"/>
              <a:buFont typeface="Georgia"/>
              <a:buNone/>
            </a:pPr>
            <a:r>
              <a:rPr lang="en-US" sz="5500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We are not the only users…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161288" y="22768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7A5"/>
              </a:buClr>
              <a:buSzPts val="34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4974336" y="22768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8787384" y="22768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7A5"/>
              </a:buClr>
              <a:buSzPts val="34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8787384" y="2953512"/>
            <a:ext cx="2660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1900"/>
              <a:buFont typeface="Georgia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close.png"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relaxed-intelligent-einstein/mnt/outputs/t2/closehero_night.png"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418" y="2622591"/>
            <a:ext cx="3214116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/>
          <p:nvPr/>
        </p:nvSpPr>
        <p:spPr>
          <a:xfrm>
            <a:off x="548640" y="91440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4000"/>
              <a:buFont typeface="Georgia"/>
              <a:buNone/>
            </a:pPr>
            <a:r>
              <a:rPr b="0" i="1" lang="en-US" sz="40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Grow together.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