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KELVIN · 0:00–0:05
We're BTeamBros. This is Grove — a productivity app where finishing your tasks grows a living tree, and you don't do it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KELVIN · 0:05–0:40
Todo apps are lonely and disposable. You lose momentum, and there's no record of what you already did. Grove is for students who focus better next to someone. The idea: finish a task, and your tree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KELVIN · 0:40–1:08
The first twenty levels build the tree itself. One level per day, so you can't rush it. The branching is seeded from your account, so nobody else grows the same tree — you'll see that live in a minute. At twenty the shape locks permanently.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KELVIN · 1:08–1:36
After twenty, the shape is frozen and the seasons take over. Twenty levels each — blossom, then fruit, then the leaves turn and drop, then snow. Eighty levels is a full year. This is the part you can't show in a demo, and it's the reason people come back.
HAND OFF: "Kyle's going to show you where the work actually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KYLE · 1:36–1:54
Open with: "The deck just moved into Grove's night theme — that's the part I built."
Then: tasks aren't just a list. Everything has a due date, and it lands on the calendar automatically, so you plan the day before you're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KYLE · 1:54–2:12
The constraint is the feature. Completing a task is the only input, capped at one level a day, so the tree can't be inflated. That's what makes it worth looking at.
HAND OFF: "But none of this works if you're doing it alone — Turner."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TURNER · 2:12–2:30
The reason rooms exist: co-presence. People work better with someone in the room. Video calls are exhausting and performative — a Grove room gives you presence without a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TURNER · 2:30–2:48
A room isn't a chatroom bolted on. The host changes the background and sound for everyone, chat is live and grouped by day, and you invite friends from inside the room.
HAND OFF: "Let's show you." → switch to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 2:48–4:38 (110s)
One browser, one driver (Kelvin). Both accounts pre-logged-in, tabbed.
KELVIN 2:48–3:25 — login, main page, profile (photo + bio), friends tab. On friends: "These are real accounts at different streaks — same system, four different trees." Then add the fifth friend live.
KYLE 3:25–3:58 — add homework #1 with due date, show the calendar, check it off, tree levels up.
TURNER 3:58–4:38 — streak page, lobby, create room, invite the friend, chat + background/sound. Toggle the theme once.
PRE-SEED: friends at streak 38 / 57 / 65 / 99, plus a fifth low-level account to add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KELVIN · 4:38–4:58
&gt;&gt;&gt; REPLACE THESE WITH THE TEAM'S REAL TAKEAWAYS &lt;&lt;&lt;
Drafted from the codebase and git history — rewrite in your own words before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KELVIN · 4:58–5:00
Thank you — happy to take questions.
Likely Q&amp;A: why one level a day? what happens past 100? how is the tree generated? how does room state sync? (Kelvin: tree + growth model. Kyle: tasks, calendar, day/night. Turner: rooms, chat, invites.)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essions/relaxed-intelligent-einstein/mnt/outputs/bg2/dawn.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sessions/relaxed-intelligent-einstein/mnt/outputs/t2/hero.png">    </p:cNvPr>
          <p:cNvPicPr>
            <a:picLocks noChangeAspect="1"/>
          </p:cNvPicPr>
          <p:nvPr/>
        </p:nvPicPr>
        <p:blipFill>
          <a:blip r:embed="rId2"/>
          <a:stretch>
            <a:fillRect/>
          </a:stretch>
        </p:blipFill>
        <p:spPr>
          <a:xfrm>
            <a:off x="6398514" y="1359438"/>
            <a:ext cx="5125212" cy="5394960"/>
          </a:xfrm>
          <a:prstGeom prst="rect">
            <a:avLst/>
          </a:prstGeom>
        </p:spPr>
      </p:pic>
      <p:sp>
        <p:nvSpPr>
          <p:cNvPr id="4" name="Text 0"/>
          <p:cNvSpPr/>
          <p:nvPr/>
        </p:nvSpPr>
        <p:spPr>
          <a:xfrm>
            <a:off x="822960" y="1847088"/>
            <a:ext cx="6400800" cy="1691640"/>
          </a:xfrm>
          <a:prstGeom prst="rect">
            <a:avLst/>
          </a:prstGeom>
          <a:noFill/>
          <a:ln/>
        </p:spPr>
        <p:txBody>
          <a:bodyPr wrap="square" lIns="0" tIns="0" rIns="0" bIns="0" rtlCol="0" anchor="ctr"/>
          <a:lstStyle/>
          <a:p>
            <a:pPr indent="0" marL="0">
              <a:buNone/>
            </a:pPr>
            <a:r>
              <a:rPr lang="en-US" sz="9600" dirty="0">
                <a:solidFill>
                  <a:srgbClr val="22291D"/>
                </a:solidFill>
                <a:latin typeface="Georgia" pitchFamily="34" charset="0"/>
                <a:ea typeface="Georgia" pitchFamily="34" charset="-122"/>
                <a:cs typeface="Georgia" pitchFamily="34" charset="-120"/>
              </a:rPr>
              <a:t>Grove</a:t>
            </a:r>
            <a:endParaRPr lang="en-US" sz="9600" dirty="0"/>
          </a:p>
        </p:txBody>
      </p:sp>
      <p:sp>
        <p:nvSpPr>
          <p:cNvPr id="5" name="Text 1"/>
          <p:cNvSpPr/>
          <p:nvPr/>
        </p:nvSpPr>
        <p:spPr>
          <a:xfrm>
            <a:off x="868680" y="3493008"/>
            <a:ext cx="6400800" cy="566928"/>
          </a:xfrm>
          <a:prstGeom prst="rect">
            <a:avLst/>
          </a:prstGeom>
          <a:noFill/>
          <a:ln/>
        </p:spPr>
        <p:txBody>
          <a:bodyPr wrap="square" lIns="0" tIns="0" rIns="0" bIns="0" rtlCol="0" anchor="ctr"/>
          <a:lstStyle/>
          <a:p>
            <a:pPr indent="0" marL="0">
              <a:buNone/>
            </a:pPr>
            <a:r>
              <a:rPr lang="en-US" sz="2400" i="1" dirty="0">
                <a:solidFill>
                  <a:srgbClr val="4A6B4D"/>
                </a:solidFill>
                <a:latin typeface="Georgia" pitchFamily="34" charset="0"/>
                <a:ea typeface="Georgia" pitchFamily="34" charset="-122"/>
                <a:cs typeface="Georgia" pitchFamily="34" charset="-120"/>
              </a:rPr>
              <a:t>Grow together, one task at a time.</a:t>
            </a:r>
            <a:endParaRPr lang="en-US" sz="2400" dirty="0"/>
          </a:p>
        </p:txBody>
      </p:sp>
      <p:sp>
        <p:nvSpPr>
          <p:cNvPr id="6" name="Shape 2"/>
          <p:cNvSpPr/>
          <p:nvPr/>
        </p:nvSpPr>
        <p:spPr>
          <a:xfrm>
            <a:off x="868680" y="4315968"/>
            <a:ext cx="1371600" cy="0"/>
          </a:xfrm>
          <a:prstGeom prst="line">
            <a:avLst/>
          </a:prstGeom>
          <a:noFill/>
          <a:ln w="15875">
            <a:solidFill>
              <a:srgbClr val="A3B7A5"/>
            </a:solidFill>
            <a:prstDash val="solid"/>
          </a:ln>
        </p:spPr>
      </p:sp>
      <p:sp>
        <p:nvSpPr>
          <p:cNvPr id="7" name="Text 3"/>
          <p:cNvSpPr/>
          <p:nvPr/>
        </p:nvSpPr>
        <p:spPr>
          <a:xfrm>
            <a:off x="868680" y="4572000"/>
            <a:ext cx="4572000" cy="329184"/>
          </a:xfrm>
          <a:prstGeom prst="rect">
            <a:avLst/>
          </a:prstGeom>
          <a:noFill/>
          <a:ln/>
        </p:spPr>
        <p:txBody>
          <a:bodyPr wrap="square" lIns="0" tIns="0" rIns="0" bIns="0" rtlCol="0" anchor="ctr"/>
          <a:lstStyle/>
          <a:p>
            <a:pPr indent="0" marL="0">
              <a:buNone/>
            </a:pPr>
            <a:r>
              <a:rPr lang="en-US" sz="1400" b="1" spc="200" kern="0" dirty="0">
                <a:solidFill>
                  <a:srgbClr val="22291D"/>
                </a:solidFill>
                <a:latin typeface="Calibri" pitchFamily="34" charset="0"/>
                <a:ea typeface="Calibri" pitchFamily="34" charset="-122"/>
                <a:cs typeface="Calibri" pitchFamily="34" charset="-120"/>
              </a:rPr>
              <a:t>BTeamBros</a:t>
            </a:r>
            <a:endParaRPr lang="en-US" sz="1400" dirty="0"/>
          </a:p>
        </p:txBody>
      </p:sp>
      <p:sp>
        <p:nvSpPr>
          <p:cNvPr id="8" name="Text 4"/>
          <p:cNvSpPr/>
          <p:nvPr/>
        </p:nvSpPr>
        <p:spPr>
          <a:xfrm>
            <a:off x="868680" y="4937760"/>
            <a:ext cx="5486400" cy="329184"/>
          </a:xfrm>
          <a:prstGeom prst="rect">
            <a:avLst/>
          </a:prstGeom>
          <a:noFill/>
          <a:ln/>
        </p:spPr>
        <p:txBody>
          <a:bodyPr wrap="square" lIns="0" tIns="0" rIns="0" bIns="0" rtlCol="0" anchor="ctr"/>
          <a:lstStyle/>
          <a:p>
            <a:pPr indent="0" marL="0">
              <a:buNone/>
            </a:pPr>
            <a:r>
              <a:rPr lang="en-US" sz="1300" dirty="0">
                <a:solidFill>
                  <a:srgbClr val="55604F"/>
                </a:solidFill>
                <a:latin typeface="Calibri" pitchFamily="34" charset="0"/>
                <a:ea typeface="Calibri" pitchFamily="34" charset="-122"/>
                <a:cs typeface="Calibri" pitchFamily="34" charset="-120"/>
              </a:rPr>
              <a:t>CS160  ·  Final Presentation  ·  August 6,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essions/relaxed-intelligent-einstein/mnt/outputs/bg2/morning.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777240" y="566928"/>
            <a:ext cx="7315200" cy="292608"/>
          </a:xfrm>
          <a:prstGeom prst="rect">
            <a:avLst/>
          </a:prstGeom>
          <a:noFill/>
          <a:ln/>
        </p:spPr>
        <p:txBody>
          <a:bodyPr wrap="square" lIns="0" tIns="0" rIns="0" bIns="0" rtlCol="0" anchor="ctr"/>
          <a:lstStyle/>
          <a:p>
            <a:pPr indent="0" marL="0">
              <a:buNone/>
            </a:pPr>
            <a:r>
              <a:rPr lang="en-US" sz="1200" b="1" spc="260" kern="0" dirty="0">
                <a:solidFill>
                  <a:srgbClr val="4A6B4D"/>
                </a:solidFill>
                <a:latin typeface="Calibri" pitchFamily="34" charset="0"/>
                <a:ea typeface="Calibri" pitchFamily="34" charset="-122"/>
                <a:cs typeface="Calibri" pitchFamily="34" charset="-120"/>
              </a:rPr>
              <a:t>THE PROBLEM</a:t>
            </a:r>
            <a:endParaRPr lang="en-US" sz="1200" dirty="0"/>
          </a:p>
        </p:txBody>
      </p:sp>
      <p:sp>
        <p:nvSpPr>
          <p:cNvPr id="4" name="Text 1"/>
          <p:cNvSpPr/>
          <p:nvPr/>
        </p:nvSpPr>
        <p:spPr>
          <a:xfrm>
            <a:off x="777240" y="960120"/>
            <a:ext cx="6309360" cy="1737360"/>
          </a:xfrm>
          <a:prstGeom prst="rect">
            <a:avLst/>
          </a:prstGeom>
          <a:noFill/>
          <a:ln/>
        </p:spPr>
        <p:txBody>
          <a:bodyPr wrap="square" lIns="0" tIns="0" rIns="0" bIns="0" rtlCol="0" anchor="ctr"/>
          <a:lstStyle/>
          <a:p>
            <a:pPr indent="0" marL="0">
              <a:lnSpc>
                <a:spcPts val="4200"/>
              </a:lnSpc>
              <a:buNone/>
            </a:pPr>
            <a:r>
              <a:rPr lang="en-US" sz="3300" dirty="0">
                <a:solidFill>
                  <a:srgbClr val="22291D"/>
                </a:solidFill>
                <a:latin typeface="Georgia" pitchFamily="34" charset="0"/>
                <a:ea typeface="Georgia" pitchFamily="34" charset="-122"/>
                <a:cs typeface="Georgia" pitchFamily="34" charset="-120"/>
              </a:rPr>
              <a:t>Task lists are easy to start</a:t>
            </a:r>
            <a:endParaRPr lang="en-US" sz="3300" dirty="0"/>
          </a:p>
          <a:p>
            <a:pPr indent="0" marL="0">
              <a:lnSpc>
                <a:spcPts val="4200"/>
              </a:lnSpc>
              <a:buNone/>
            </a:pPr>
            <a:r>
              <a:rPr lang="en-US" sz="3300" dirty="0">
                <a:solidFill>
                  <a:srgbClr val="22291D"/>
                </a:solidFill>
                <a:latin typeface="Georgia" pitchFamily="34" charset="0"/>
                <a:ea typeface="Georgia" pitchFamily="34" charset="-122"/>
                <a:cs typeface="Georgia" pitchFamily="34" charset="-120"/>
              </a:rPr>
              <a:t>and easy to abandon.</a:t>
            </a:r>
            <a:endParaRPr lang="en-US" sz="3300" dirty="0"/>
          </a:p>
        </p:txBody>
      </p:sp>
      <p:sp>
        <p:nvSpPr>
          <p:cNvPr id="5" name="Text 2"/>
          <p:cNvSpPr/>
          <p:nvPr/>
        </p:nvSpPr>
        <p:spPr>
          <a:xfrm>
            <a:off x="777240" y="2788920"/>
            <a:ext cx="5760720" cy="914400"/>
          </a:xfrm>
          <a:prstGeom prst="rect">
            <a:avLst/>
          </a:prstGeom>
          <a:noFill/>
          <a:ln/>
        </p:spPr>
        <p:txBody>
          <a:bodyPr wrap="square" lIns="0" tIns="0" rIns="0" bIns="0" rtlCol="0" anchor="ctr"/>
          <a:lstStyle/>
          <a:p>
            <a:pPr indent="0" marL="0">
              <a:lnSpc>
                <a:spcPts val="2400"/>
              </a:lnSpc>
              <a:buNone/>
            </a:pPr>
            <a:r>
              <a:rPr lang="en-US" sz="1600" dirty="0">
                <a:solidFill>
                  <a:srgbClr val="55604F"/>
                </a:solidFill>
                <a:latin typeface="Calibri" pitchFamily="34" charset="0"/>
                <a:ea typeface="Calibri" pitchFamily="34" charset="-122"/>
                <a:cs typeface="Calibri" pitchFamily="34" charset="-120"/>
              </a:rPr>
              <a:t>Working alone, no one keeps you honest — and after two months there's nothing to show you did anything at all.</a:t>
            </a:r>
            <a:endParaRPr lang="en-US" sz="1600" dirty="0"/>
          </a:p>
        </p:txBody>
      </p:sp>
      <p:sp>
        <p:nvSpPr>
          <p:cNvPr id="6" name="Shape 3"/>
          <p:cNvSpPr/>
          <p:nvPr/>
        </p:nvSpPr>
        <p:spPr>
          <a:xfrm>
            <a:off x="777240" y="3977640"/>
            <a:ext cx="5760720" cy="1481328"/>
          </a:xfrm>
          <a:prstGeom prst="roundRect">
            <a:avLst>
              <a:gd name="adj" fmla="val 9877"/>
            </a:avLst>
          </a:prstGeom>
          <a:solidFill>
            <a:srgbClr val="D6DDD7"/>
          </a:solidFill>
          <a:ln/>
        </p:spPr>
      </p:sp>
      <p:sp>
        <p:nvSpPr>
          <p:cNvPr id="7" name="Text 4"/>
          <p:cNvSpPr/>
          <p:nvPr/>
        </p:nvSpPr>
        <p:spPr>
          <a:xfrm>
            <a:off x="1097280" y="4224528"/>
            <a:ext cx="5120640" cy="274320"/>
          </a:xfrm>
          <a:prstGeom prst="rect">
            <a:avLst/>
          </a:prstGeom>
          <a:noFill/>
          <a:ln/>
        </p:spPr>
        <p:txBody>
          <a:bodyPr wrap="square" lIns="0" tIns="0" rIns="0" bIns="0" rtlCol="0" anchor="ctr"/>
          <a:lstStyle/>
          <a:p>
            <a:pPr indent="0" marL="0">
              <a:buNone/>
            </a:pPr>
            <a:r>
              <a:rPr lang="en-US" sz="1150" b="1" spc="220" kern="0" dirty="0">
                <a:solidFill>
                  <a:srgbClr val="4A6B4D"/>
                </a:solidFill>
                <a:latin typeface="Calibri" pitchFamily="34" charset="0"/>
                <a:ea typeface="Calibri" pitchFamily="34" charset="-122"/>
                <a:cs typeface="Calibri" pitchFamily="34" charset="-120"/>
              </a:rPr>
              <a:t>WHO IT'S FOR</a:t>
            </a:r>
            <a:endParaRPr lang="en-US" sz="1150" dirty="0"/>
          </a:p>
        </p:txBody>
      </p:sp>
      <p:sp>
        <p:nvSpPr>
          <p:cNvPr id="8" name="Text 5"/>
          <p:cNvSpPr/>
          <p:nvPr/>
        </p:nvSpPr>
        <p:spPr>
          <a:xfrm>
            <a:off x="1097280" y="4553712"/>
            <a:ext cx="5120640" cy="777240"/>
          </a:xfrm>
          <a:prstGeom prst="rect">
            <a:avLst/>
          </a:prstGeom>
          <a:noFill/>
          <a:ln/>
        </p:spPr>
        <p:txBody>
          <a:bodyPr wrap="square" lIns="0" tIns="0" rIns="0" bIns="0" rtlCol="0" anchor="ctr"/>
          <a:lstStyle/>
          <a:p>
            <a:pPr indent="0" marL="0">
              <a:lnSpc>
                <a:spcPts val="2000"/>
              </a:lnSpc>
              <a:buNone/>
            </a:pPr>
            <a:r>
              <a:rPr lang="en-US" sz="1450" dirty="0">
                <a:solidFill>
                  <a:srgbClr val="22291D"/>
                </a:solidFill>
                <a:latin typeface="Calibri" pitchFamily="34" charset="0"/>
                <a:ea typeface="Calibri" pitchFamily="34" charset="-122"/>
                <a:cs typeface="Calibri" pitchFamily="34" charset="-120"/>
              </a:rPr>
              <a:t>Students and young professionals who focus better when someone is working alongside them.</a:t>
            </a:r>
            <a:endParaRPr lang="en-US" sz="1450" dirty="0"/>
          </a:p>
        </p:txBody>
      </p:sp>
      <p:sp>
        <p:nvSpPr>
          <p:cNvPr id="9" name="Text 6"/>
          <p:cNvSpPr/>
          <p:nvPr/>
        </p:nvSpPr>
        <p:spPr>
          <a:xfrm>
            <a:off x="7452360" y="1417320"/>
            <a:ext cx="4069080" cy="1828800"/>
          </a:xfrm>
          <a:prstGeom prst="rect">
            <a:avLst/>
          </a:prstGeom>
          <a:noFill/>
          <a:ln/>
        </p:spPr>
        <p:txBody>
          <a:bodyPr wrap="square" lIns="0" tIns="0" rIns="0" bIns="0" rtlCol="0" anchor="ctr"/>
          <a:lstStyle/>
          <a:p>
            <a:pPr indent="0" marL="0">
              <a:lnSpc>
                <a:spcPts val="4200"/>
              </a:lnSpc>
              <a:buNone/>
            </a:pPr>
            <a:r>
              <a:rPr lang="en-US" sz="3200" dirty="0">
                <a:solidFill>
                  <a:srgbClr val="22291D"/>
                </a:solidFill>
                <a:latin typeface="Georgia" pitchFamily="34" charset="0"/>
                <a:ea typeface="Georgia" pitchFamily="34" charset="-122"/>
                <a:cs typeface="Georgia" pitchFamily="34" charset="-120"/>
              </a:rPr>
              <a:t>Finish a task.</a:t>
            </a:r>
            <a:endParaRPr lang="en-US" sz="3200" dirty="0"/>
          </a:p>
          <a:p>
            <a:pPr indent="0" marL="0">
              <a:lnSpc>
                <a:spcPts val="4200"/>
              </a:lnSpc>
              <a:buNone/>
            </a:pPr>
            <a:r>
              <a:rPr lang="en-US" sz="3200" dirty="0">
                <a:solidFill>
                  <a:srgbClr val="22291D"/>
                </a:solidFill>
                <a:latin typeface="Georgia" pitchFamily="34" charset="0"/>
                <a:ea typeface="Georgia" pitchFamily="34" charset="-122"/>
                <a:cs typeface="Georgia" pitchFamily="34" charset="-120"/>
              </a:rPr>
              <a:t>Your tree grows.</a:t>
            </a:r>
            <a:endParaRPr lang="en-US" sz="3200" dirty="0"/>
          </a:p>
        </p:txBody>
      </p:sp>
      <p:pic>
        <p:nvPicPr>
          <p:cNvPr id="10" name="Image 1" descr="/sessions/relaxed-intelligent-einstein/mnt/outputs/t2/sapling.png">    </p:cNvPr>
          <p:cNvPicPr>
            <a:picLocks noChangeAspect="1"/>
          </p:cNvPicPr>
          <p:nvPr/>
        </p:nvPicPr>
        <p:blipFill>
          <a:blip r:embed="rId2"/>
          <a:stretch>
            <a:fillRect/>
          </a:stretch>
        </p:blipFill>
        <p:spPr>
          <a:xfrm>
            <a:off x="8241030" y="3412998"/>
            <a:ext cx="2171700" cy="2286000"/>
          </a:xfrm>
          <a:prstGeom prst="rect">
            <a:avLst/>
          </a:prstGeom>
        </p:spPr>
      </p:pic>
      <p:sp>
        <p:nvSpPr>
          <p:cNvPr id="11" name="Shape 7"/>
          <p:cNvSpPr/>
          <p:nvPr/>
        </p:nvSpPr>
        <p:spPr>
          <a:xfrm>
            <a:off x="7772400" y="5440680"/>
            <a:ext cx="3108960" cy="0"/>
          </a:xfrm>
          <a:prstGeom prst="line">
            <a:avLst/>
          </a:prstGeom>
          <a:noFill/>
          <a:ln w="12700">
            <a:solidFill>
              <a:srgbClr val="A3B7A5"/>
            </a:solidFill>
            <a:prstDash val="solid"/>
          </a:ln>
        </p:spPr>
      </p:sp>
      <p:sp>
        <p:nvSpPr>
          <p:cNvPr id="12" name="Text 8"/>
          <p:cNvSpPr/>
          <p:nvPr/>
        </p:nvSpPr>
        <p:spPr>
          <a:xfrm>
            <a:off x="7772400" y="5596128"/>
            <a:ext cx="3108960" cy="310896"/>
          </a:xfrm>
          <a:prstGeom prst="rect">
            <a:avLst/>
          </a:prstGeom>
          <a:noFill/>
          <a:ln/>
        </p:spPr>
        <p:txBody>
          <a:bodyPr wrap="square" lIns="0" tIns="0" rIns="0" bIns="0" rtlCol="0" anchor="ctr"/>
          <a:lstStyle/>
          <a:p>
            <a:pPr algn="ctr" indent="0" marL="0">
              <a:buNone/>
            </a:pPr>
            <a:r>
              <a:rPr lang="en-US" sz="1300" i="1" dirty="0">
                <a:solidFill>
                  <a:srgbClr val="55604F"/>
                </a:solidFill>
                <a:latin typeface="Georgia" pitchFamily="34" charset="0"/>
                <a:ea typeface="Georgia" pitchFamily="34" charset="-122"/>
                <a:cs typeface="Georgia" pitchFamily="34" charset="-120"/>
              </a:rPr>
              <a:t>day one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essions/relaxed-intelligent-einstein/mnt/outputs/bg2/midday.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777240" y="566928"/>
            <a:ext cx="7315200" cy="292608"/>
          </a:xfrm>
          <a:prstGeom prst="rect">
            <a:avLst/>
          </a:prstGeom>
          <a:noFill/>
          <a:ln/>
        </p:spPr>
        <p:txBody>
          <a:bodyPr wrap="square" lIns="0" tIns="0" rIns="0" bIns="0" rtlCol="0" anchor="ctr"/>
          <a:lstStyle/>
          <a:p>
            <a:pPr indent="0" marL="0">
              <a:buNone/>
            </a:pPr>
            <a:r>
              <a:rPr lang="en-US" sz="1200" b="1" spc="260" kern="0" dirty="0">
                <a:solidFill>
                  <a:srgbClr val="4A6B4D"/>
                </a:solidFill>
                <a:latin typeface="Calibri" pitchFamily="34" charset="0"/>
                <a:ea typeface="Calibri" pitchFamily="34" charset="-122"/>
                <a:cs typeface="Calibri" pitchFamily="34" charset="-120"/>
              </a:rPr>
              <a:t>LEVELS 1 – 20</a:t>
            </a:r>
            <a:endParaRPr lang="en-US" sz="1200" dirty="0"/>
          </a:p>
        </p:txBody>
      </p:sp>
      <p:sp>
        <p:nvSpPr>
          <p:cNvPr id="4" name="Text 1"/>
          <p:cNvSpPr/>
          <p:nvPr/>
        </p:nvSpPr>
        <p:spPr>
          <a:xfrm>
            <a:off x="777240" y="960120"/>
            <a:ext cx="8229600" cy="731520"/>
          </a:xfrm>
          <a:prstGeom prst="rect">
            <a:avLst/>
          </a:prstGeom>
          <a:noFill/>
          <a:ln/>
        </p:spPr>
        <p:txBody>
          <a:bodyPr wrap="square" lIns="0" tIns="0" rIns="0" bIns="0" rtlCol="0" anchor="ctr"/>
          <a:lstStyle/>
          <a:p>
            <a:pPr indent="0" marL="0">
              <a:lnSpc>
                <a:spcPts val="4600"/>
              </a:lnSpc>
              <a:buNone/>
            </a:pPr>
            <a:r>
              <a:rPr lang="en-US" sz="3400" dirty="0">
                <a:solidFill>
                  <a:srgbClr val="22291D"/>
                </a:solidFill>
                <a:latin typeface="Georgia" pitchFamily="34" charset="0"/>
                <a:ea typeface="Georgia" pitchFamily="34" charset="-122"/>
                <a:cs typeface="Georgia" pitchFamily="34" charset="-120"/>
              </a:rPr>
              <a:t>First, the tree grows up.</a:t>
            </a:r>
            <a:endParaRPr lang="en-US" sz="3400" dirty="0"/>
          </a:p>
        </p:txBody>
      </p:sp>
      <p:sp>
        <p:nvSpPr>
          <p:cNvPr id="5" name="Shape 2"/>
          <p:cNvSpPr/>
          <p:nvPr/>
        </p:nvSpPr>
        <p:spPr>
          <a:xfrm>
            <a:off x="777240" y="1929384"/>
            <a:ext cx="128016" cy="128016"/>
          </a:xfrm>
          <a:prstGeom prst="ellipse">
            <a:avLst/>
          </a:prstGeom>
          <a:solidFill>
            <a:srgbClr val="4A6B4D"/>
          </a:solidFill>
          <a:ln/>
        </p:spPr>
      </p:sp>
      <p:sp>
        <p:nvSpPr>
          <p:cNvPr id="6" name="Text 3"/>
          <p:cNvSpPr/>
          <p:nvPr/>
        </p:nvSpPr>
        <p:spPr>
          <a:xfrm>
            <a:off x="1033272" y="1874520"/>
            <a:ext cx="3017520" cy="310896"/>
          </a:xfrm>
          <a:prstGeom prst="rect">
            <a:avLst/>
          </a:prstGeom>
          <a:noFill/>
          <a:ln/>
        </p:spPr>
        <p:txBody>
          <a:bodyPr wrap="square" lIns="0" tIns="0" rIns="0" bIns="0" rtlCol="0" anchor="ctr"/>
          <a:lstStyle/>
          <a:p>
            <a:pPr indent="0" marL="0">
              <a:buNone/>
            </a:pPr>
            <a:r>
              <a:rPr lang="en-US" sz="1550" b="1" dirty="0">
                <a:solidFill>
                  <a:srgbClr val="22291D"/>
                </a:solidFill>
                <a:latin typeface="Georgia" pitchFamily="34" charset="0"/>
                <a:ea typeface="Georgia" pitchFamily="34" charset="-122"/>
                <a:cs typeface="Georgia" pitchFamily="34" charset="-120"/>
              </a:rPr>
              <a:t>One level a day</a:t>
            </a:r>
            <a:endParaRPr lang="en-US" sz="1550" dirty="0"/>
          </a:p>
        </p:txBody>
      </p:sp>
      <p:sp>
        <p:nvSpPr>
          <p:cNvPr id="7" name="Text 4"/>
          <p:cNvSpPr/>
          <p:nvPr/>
        </p:nvSpPr>
        <p:spPr>
          <a:xfrm>
            <a:off x="1033272" y="2240280"/>
            <a:ext cx="2953512" cy="731520"/>
          </a:xfrm>
          <a:prstGeom prst="rect">
            <a:avLst/>
          </a:prstGeom>
          <a:noFill/>
          <a:ln/>
        </p:spPr>
        <p:txBody>
          <a:bodyPr wrap="square" lIns="0" tIns="0" rIns="0" bIns="0" rtlCol="0" anchor="ctr"/>
          <a:lstStyle/>
          <a:p>
            <a:pPr indent="0" marL="0">
              <a:lnSpc>
                <a:spcPts val="1700"/>
              </a:lnSpc>
              <a:buNone/>
            </a:pPr>
            <a:r>
              <a:rPr lang="en-US" sz="1250" dirty="0">
                <a:solidFill>
                  <a:srgbClr val="55604F"/>
                </a:solidFill>
                <a:latin typeface="Calibri" pitchFamily="34" charset="0"/>
                <a:ea typeface="Calibri" pitchFamily="34" charset="-122"/>
                <a:cs typeface="Calibri" pitchFamily="34" charset="-120"/>
              </a:rPr>
              <a:t>You can't cram — the only way up is coming back.</a:t>
            </a:r>
            <a:endParaRPr lang="en-US" sz="1250" dirty="0"/>
          </a:p>
        </p:txBody>
      </p:sp>
      <p:sp>
        <p:nvSpPr>
          <p:cNvPr id="8" name="Shape 5"/>
          <p:cNvSpPr/>
          <p:nvPr/>
        </p:nvSpPr>
        <p:spPr>
          <a:xfrm>
            <a:off x="4434840" y="1929384"/>
            <a:ext cx="128016" cy="128016"/>
          </a:xfrm>
          <a:prstGeom prst="ellipse">
            <a:avLst/>
          </a:prstGeom>
          <a:solidFill>
            <a:srgbClr val="4A6B4D"/>
          </a:solidFill>
          <a:ln/>
        </p:spPr>
      </p:sp>
      <p:sp>
        <p:nvSpPr>
          <p:cNvPr id="9" name="Text 6"/>
          <p:cNvSpPr/>
          <p:nvPr/>
        </p:nvSpPr>
        <p:spPr>
          <a:xfrm>
            <a:off x="4690872" y="1874520"/>
            <a:ext cx="3017520" cy="310896"/>
          </a:xfrm>
          <a:prstGeom prst="rect">
            <a:avLst/>
          </a:prstGeom>
          <a:noFill/>
          <a:ln/>
        </p:spPr>
        <p:txBody>
          <a:bodyPr wrap="square" lIns="0" tIns="0" rIns="0" bIns="0" rtlCol="0" anchor="ctr"/>
          <a:lstStyle/>
          <a:p>
            <a:pPr indent="0" marL="0">
              <a:buNone/>
            </a:pPr>
            <a:r>
              <a:rPr lang="en-US" sz="1550" b="1" dirty="0">
                <a:solidFill>
                  <a:srgbClr val="22291D"/>
                </a:solidFill>
                <a:latin typeface="Georgia" pitchFamily="34" charset="0"/>
                <a:ea typeface="Georgia" pitchFamily="34" charset="-122"/>
                <a:cs typeface="Georgia" pitchFamily="34" charset="-120"/>
              </a:rPr>
              <a:t>Seeded per user</a:t>
            </a:r>
            <a:endParaRPr lang="en-US" sz="1550" dirty="0"/>
          </a:p>
        </p:txBody>
      </p:sp>
      <p:sp>
        <p:nvSpPr>
          <p:cNvPr id="10" name="Text 7"/>
          <p:cNvSpPr/>
          <p:nvPr/>
        </p:nvSpPr>
        <p:spPr>
          <a:xfrm>
            <a:off x="4690872" y="2240280"/>
            <a:ext cx="2953512" cy="731520"/>
          </a:xfrm>
          <a:prstGeom prst="rect">
            <a:avLst/>
          </a:prstGeom>
          <a:noFill/>
          <a:ln/>
        </p:spPr>
        <p:txBody>
          <a:bodyPr wrap="square" lIns="0" tIns="0" rIns="0" bIns="0" rtlCol="0" anchor="ctr"/>
          <a:lstStyle/>
          <a:p>
            <a:pPr indent="0" marL="0">
              <a:lnSpc>
                <a:spcPts val="1700"/>
              </a:lnSpc>
              <a:buNone/>
            </a:pPr>
            <a:r>
              <a:rPr lang="en-US" sz="1250" dirty="0">
                <a:solidFill>
                  <a:srgbClr val="55604F"/>
                </a:solidFill>
                <a:latin typeface="Calibri" pitchFamily="34" charset="0"/>
                <a:ea typeface="Calibri" pitchFamily="34" charset="-122"/>
                <a:cs typeface="Calibri" pitchFamily="34" charset="-120"/>
              </a:rPr>
              <a:t>Your account decides the branching. No two trees match.</a:t>
            </a:r>
            <a:endParaRPr lang="en-US" sz="1250" dirty="0"/>
          </a:p>
        </p:txBody>
      </p:sp>
      <p:sp>
        <p:nvSpPr>
          <p:cNvPr id="11" name="Shape 8"/>
          <p:cNvSpPr/>
          <p:nvPr/>
        </p:nvSpPr>
        <p:spPr>
          <a:xfrm>
            <a:off x="8092440" y="1929384"/>
            <a:ext cx="128016" cy="128016"/>
          </a:xfrm>
          <a:prstGeom prst="ellipse">
            <a:avLst/>
          </a:prstGeom>
          <a:solidFill>
            <a:srgbClr val="4A6B4D"/>
          </a:solidFill>
          <a:ln/>
        </p:spPr>
      </p:sp>
      <p:sp>
        <p:nvSpPr>
          <p:cNvPr id="12" name="Text 9"/>
          <p:cNvSpPr/>
          <p:nvPr/>
        </p:nvSpPr>
        <p:spPr>
          <a:xfrm>
            <a:off x="8348472" y="1874520"/>
            <a:ext cx="3017520" cy="310896"/>
          </a:xfrm>
          <a:prstGeom prst="rect">
            <a:avLst/>
          </a:prstGeom>
          <a:noFill/>
          <a:ln/>
        </p:spPr>
        <p:txBody>
          <a:bodyPr wrap="square" lIns="0" tIns="0" rIns="0" bIns="0" rtlCol="0" anchor="ctr"/>
          <a:lstStyle/>
          <a:p>
            <a:pPr indent="0" marL="0">
              <a:buNone/>
            </a:pPr>
            <a:r>
              <a:rPr lang="en-US" sz="1550" b="1" dirty="0">
                <a:solidFill>
                  <a:srgbClr val="22291D"/>
                </a:solidFill>
                <a:latin typeface="Georgia" pitchFamily="34" charset="0"/>
                <a:ea typeface="Georgia" pitchFamily="34" charset="-122"/>
                <a:cs typeface="Georgia" pitchFamily="34" charset="-120"/>
              </a:rPr>
              <a:t>Locked at level 20</a:t>
            </a:r>
            <a:endParaRPr lang="en-US" sz="1550" dirty="0"/>
          </a:p>
        </p:txBody>
      </p:sp>
      <p:sp>
        <p:nvSpPr>
          <p:cNvPr id="13" name="Text 10"/>
          <p:cNvSpPr/>
          <p:nvPr/>
        </p:nvSpPr>
        <p:spPr>
          <a:xfrm>
            <a:off x="8348472" y="2240280"/>
            <a:ext cx="2953512" cy="731520"/>
          </a:xfrm>
          <a:prstGeom prst="rect">
            <a:avLst/>
          </a:prstGeom>
          <a:noFill/>
          <a:ln/>
        </p:spPr>
        <p:txBody>
          <a:bodyPr wrap="square" lIns="0" tIns="0" rIns="0" bIns="0" rtlCol="0" anchor="ctr"/>
          <a:lstStyle/>
          <a:p>
            <a:pPr indent="0" marL="0">
              <a:lnSpc>
                <a:spcPts val="1700"/>
              </a:lnSpc>
              <a:buNone/>
            </a:pPr>
            <a:r>
              <a:rPr lang="en-US" sz="1250" dirty="0">
                <a:solidFill>
                  <a:srgbClr val="55604F"/>
                </a:solidFill>
                <a:latin typeface="Calibri" pitchFamily="34" charset="0"/>
                <a:ea typeface="Calibri" pitchFamily="34" charset="-122"/>
                <a:cs typeface="Calibri" pitchFamily="34" charset="-120"/>
              </a:rPr>
              <a:t>The shape never changes again. It's how you started.</a:t>
            </a:r>
            <a:endParaRPr lang="en-US" sz="1250" dirty="0"/>
          </a:p>
        </p:txBody>
      </p:sp>
      <p:pic>
        <p:nvPicPr>
          <p:cNvPr id="14" name="Image 1" descr="/sessions/relaxed-intelligent-einstein/mnt/outputs/t2/g01.png">    </p:cNvPr>
          <p:cNvPicPr>
            <a:picLocks noChangeAspect="1"/>
          </p:cNvPicPr>
          <p:nvPr/>
        </p:nvPicPr>
        <p:blipFill>
          <a:blip r:embed="rId2"/>
          <a:stretch>
            <a:fillRect/>
          </a:stretch>
        </p:blipFill>
        <p:spPr>
          <a:xfrm>
            <a:off x="450342" y="2825359"/>
            <a:ext cx="2996946" cy="3154680"/>
          </a:xfrm>
          <a:prstGeom prst="rect">
            <a:avLst/>
          </a:prstGeom>
        </p:spPr>
      </p:pic>
      <p:sp>
        <p:nvSpPr>
          <p:cNvPr id="15" name="Text 11"/>
          <p:cNvSpPr/>
          <p:nvPr/>
        </p:nvSpPr>
        <p:spPr>
          <a:xfrm>
            <a:off x="942975" y="5788152"/>
            <a:ext cx="2011680" cy="310896"/>
          </a:xfrm>
          <a:prstGeom prst="rect">
            <a:avLst/>
          </a:prstGeom>
          <a:noFill/>
          <a:ln/>
        </p:spPr>
        <p:txBody>
          <a:bodyPr wrap="square" lIns="0" tIns="0" rIns="0" bIns="0" rtlCol="0" anchor="ctr"/>
          <a:lstStyle/>
          <a:p>
            <a:pPr algn="ctr" indent="0" marL="0">
              <a:buNone/>
            </a:pPr>
            <a:r>
              <a:rPr lang="en-US" sz="1250" b="1" spc="180" kern="0" dirty="0">
                <a:solidFill>
                  <a:srgbClr val="4A6B4D"/>
                </a:solidFill>
                <a:latin typeface="Calibri" pitchFamily="34" charset="0"/>
                <a:ea typeface="Calibri" pitchFamily="34" charset="-122"/>
                <a:cs typeface="Calibri" pitchFamily="34" charset="-120"/>
              </a:rPr>
              <a:t>LEVEL 1</a:t>
            </a:r>
            <a:endParaRPr lang="en-US" sz="1250" dirty="0"/>
          </a:p>
        </p:txBody>
      </p:sp>
      <p:pic>
        <p:nvPicPr>
          <p:cNvPr id="16" name="Image 2" descr="/sessions/relaxed-intelligent-einstein/mnt/outputs/t2/g06.png">    </p:cNvPr>
          <p:cNvPicPr>
            <a:picLocks noChangeAspect="1"/>
          </p:cNvPicPr>
          <p:nvPr/>
        </p:nvPicPr>
        <p:blipFill>
          <a:blip r:embed="rId3"/>
          <a:stretch>
            <a:fillRect/>
          </a:stretch>
        </p:blipFill>
        <p:spPr>
          <a:xfrm>
            <a:off x="3214116" y="2825359"/>
            <a:ext cx="2996946" cy="3154680"/>
          </a:xfrm>
          <a:prstGeom prst="rect">
            <a:avLst/>
          </a:prstGeom>
        </p:spPr>
      </p:pic>
      <p:sp>
        <p:nvSpPr>
          <p:cNvPr id="17" name="Text 12"/>
          <p:cNvSpPr/>
          <p:nvPr/>
        </p:nvSpPr>
        <p:spPr>
          <a:xfrm>
            <a:off x="3706749" y="5788152"/>
            <a:ext cx="2011680" cy="310896"/>
          </a:xfrm>
          <a:prstGeom prst="rect">
            <a:avLst/>
          </a:prstGeom>
          <a:noFill/>
          <a:ln/>
        </p:spPr>
        <p:txBody>
          <a:bodyPr wrap="square" lIns="0" tIns="0" rIns="0" bIns="0" rtlCol="0" anchor="ctr"/>
          <a:lstStyle/>
          <a:p>
            <a:pPr algn="ctr" indent="0" marL="0">
              <a:buNone/>
            </a:pPr>
            <a:r>
              <a:rPr lang="en-US" sz="1250" b="1" spc="180" kern="0" dirty="0">
                <a:solidFill>
                  <a:srgbClr val="4A6B4D"/>
                </a:solidFill>
                <a:latin typeface="Calibri" pitchFamily="34" charset="0"/>
                <a:ea typeface="Calibri" pitchFamily="34" charset="-122"/>
                <a:cs typeface="Calibri" pitchFamily="34" charset="-120"/>
              </a:rPr>
              <a:t>LEVEL 6</a:t>
            </a:r>
            <a:endParaRPr lang="en-US" sz="1250" dirty="0"/>
          </a:p>
        </p:txBody>
      </p:sp>
      <p:pic>
        <p:nvPicPr>
          <p:cNvPr id="18" name="Image 3" descr="/sessions/relaxed-intelligent-einstein/mnt/outputs/t2/g12.png">    </p:cNvPr>
          <p:cNvPicPr>
            <a:picLocks noChangeAspect="1"/>
          </p:cNvPicPr>
          <p:nvPr/>
        </p:nvPicPr>
        <p:blipFill>
          <a:blip r:embed="rId4"/>
          <a:stretch>
            <a:fillRect/>
          </a:stretch>
        </p:blipFill>
        <p:spPr>
          <a:xfrm>
            <a:off x="5977890" y="2825359"/>
            <a:ext cx="2996946" cy="3154680"/>
          </a:xfrm>
          <a:prstGeom prst="rect">
            <a:avLst/>
          </a:prstGeom>
        </p:spPr>
      </p:pic>
      <p:sp>
        <p:nvSpPr>
          <p:cNvPr id="19" name="Text 13"/>
          <p:cNvSpPr/>
          <p:nvPr/>
        </p:nvSpPr>
        <p:spPr>
          <a:xfrm>
            <a:off x="6470523" y="5788152"/>
            <a:ext cx="2011680" cy="310896"/>
          </a:xfrm>
          <a:prstGeom prst="rect">
            <a:avLst/>
          </a:prstGeom>
          <a:noFill/>
          <a:ln/>
        </p:spPr>
        <p:txBody>
          <a:bodyPr wrap="square" lIns="0" tIns="0" rIns="0" bIns="0" rtlCol="0" anchor="ctr"/>
          <a:lstStyle/>
          <a:p>
            <a:pPr algn="ctr" indent="0" marL="0">
              <a:buNone/>
            </a:pPr>
            <a:r>
              <a:rPr lang="en-US" sz="1250" b="1" spc="180" kern="0" dirty="0">
                <a:solidFill>
                  <a:srgbClr val="4A6B4D"/>
                </a:solidFill>
                <a:latin typeface="Calibri" pitchFamily="34" charset="0"/>
                <a:ea typeface="Calibri" pitchFamily="34" charset="-122"/>
                <a:cs typeface="Calibri" pitchFamily="34" charset="-120"/>
              </a:rPr>
              <a:t>LEVEL 12</a:t>
            </a:r>
            <a:endParaRPr lang="en-US" sz="1250" dirty="0"/>
          </a:p>
        </p:txBody>
      </p:sp>
      <p:pic>
        <p:nvPicPr>
          <p:cNvPr id="20" name="Image 4" descr="/sessions/relaxed-intelligent-einstein/mnt/outputs/t2/g20.png">    </p:cNvPr>
          <p:cNvPicPr>
            <a:picLocks noChangeAspect="1"/>
          </p:cNvPicPr>
          <p:nvPr/>
        </p:nvPicPr>
        <p:blipFill>
          <a:blip r:embed="rId5"/>
          <a:stretch>
            <a:fillRect/>
          </a:stretch>
        </p:blipFill>
        <p:spPr>
          <a:xfrm>
            <a:off x="8741664" y="2825359"/>
            <a:ext cx="2996946" cy="3154680"/>
          </a:xfrm>
          <a:prstGeom prst="rect">
            <a:avLst/>
          </a:prstGeom>
        </p:spPr>
      </p:pic>
      <p:sp>
        <p:nvSpPr>
          <p:cNvPr id="21" name="Text 14"/>
          <p:cNvSpPr/>
          <p:nvPr/>
        </p:nvSpPr>
        <p:spPr>
          <a:xfrm>
            <a:off x="9234297" y="5788152"/>
            <a:ext cx="2011680" cy="310896"/>
          </a:xfrm>
          <a:prstGeom prst="rect">
            <a:avLst/>
          </a:prstGeom>
          <a:noFill/>
          <a:ln/>
        </p:spPr>
        <p:txBody>
          <a:bodyPr wrap="square" lIns="0" tIns="0" rIns="0" bIns="0" rtlCol="0" anchor="ctr"/>
          <a:lstStyle/>
          <a:p>
            <a:pPr algn="ctr" indent="0" marL="0">
              <a:buNone/>
            </a:pPr>
            <a:r>
              <a:rPr lang="en-US" sz="1250" b="1" spc="180" kern="0" dirty="0">
                <a:solidFill>
                  <a:srgbClr val="4A6B4D"/>
                </a:solidFill>
                <a:latin typeface="Calibri" pitchFamily="34" charset="0"/>
                <a:ea typeface="Calibri" pitchFamily="34" charset="-122"/>
                <a:cs typeface="Calibri" pitchFamily="34" charset="-120"/>
              </a:rPr>
              <a:t>LEVEL 20</a:t>
            </a:r>
            <a:endParaRPr lang="en-US" sz="1250" dirty="0"/>
          </a:p>
        </p:txBody>
      </p:sp>
      <p:sp>
        <p:nvSpPr>
          <p:cNvPr id="22" name="Shape 15"/>
          <p:cNvSpPr/>
          <p:nvPr/>
        </p:nvSpPr>
        <p:spPr>
          <a:xfrm>
            <a:off x="566928" y="5623560"/>
            <a:ext cx="11055096" cy="0"/>
          </a:xfrm>
          <a:prstGeom prst="line">
            <a:avLst/>
          </a:prstGeom>
          <a:noFill/>
          <a:ln w="12700">
            <a:solidFill>
              <a:srgbClr val="A3B7A5"/>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essions/relaxed-intelligent-einstein/mnt/outputs/bg2/midday.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548640" y="411480"/>
            <a:ext cx="11091672" cy="731520"/>
          </a:xfrm>
          <a:prstGeom prst="rect">
            <a:avLst/>
          </a:prstGeom>
          <a:noFill/>
          <a:ln/>
        </p:spPr>
        <p:txBody>
          <a:bodyPr wrap="square" lIns="0" tIns="0" rIns="0" bIns="0" rtlCol="0" anchor="ctr"/>
          <a:lstStyle/>
          <a:p>
            <a:pPr algn="ctr" indent="0" marL="0">
              <a:buNone/>
            </a:pPr>
            <a:r>
              <a:rPr lang="en-US" sz="3800" dirty="0">
                <a:solidFill>
                  <a:srgbClr val="22291D"/>
                </a:solidFill>
                <a:latin typeface="Georgia" pitchFamily="34" charset="0"/>
                <a:ea typeface="Georgia" pitchFamily="34" charset="-122"/>
                <a:cs typeface="Georgia" pitchFamily="34" charset="-120"/>
              </a:rPr>
              <a:t>Then it starts living.</a:t>
            </a:r>
            <a:endParaRPr lang="en-US" sz="3800" dirty="0"/>
          </a:p>
        </p:txBody>
      </p:sp>
      <p:sp>
        <p:nvSpPr>
          <p:cNvPr id="4" name="Text 1"/>
          <p:cNvSpPr/>
          <p:nvPr/>
        </p:nvSpPr>
        <p:spPr>
          <a:xfrm>
            <a:off x="1371600" y="1170432"/>
            <a:ext cx="9445752" cy="411480"/>
          </a:xfrm>
          <a:prstGeom prst="rect">
            <a:avLst/>
          </a:prstGeom>
          <a:noFill/>
          <a:ln/>
        </p:spPr>
        <p:txBody>
          <a:bodyPr wrap="square" lIns="0" tIns="0" rIns="0" bIns="0" rtlCol="0" anchor="ctr"/>
          <a:lstStyle/>
          <a:p>
            <a:pPr algn="ctr" indent="0" marL="0">
              <a:buNone/>
            </a:pPr>
            <a:r>
              <a:rPr lang="en-US" sz="1450" dirty="0">
                <a:solidFill>
                  <a:srgbClr val="55604F"/>
                </a:solidFill>
                <a:latin typeface="Calibri" pitchFamily="34" charset="0"/>
                <a:ea typeface="Calibri" pitchFamily="34" charset="-122"/>
                <a:cs typeface="Calibri" pitchFamily="34" charset="-120"/>
              </a:rPr>
              <a:t>From level 21 the tree cycles through the seasons — twenty levels each, changing a little every single day.</a:t>
            </a:r>
            <a:endParaRPr lang="en-US" sz="1450" dirty="0"/>
          </a:p>
        </p:txBody>
      </p:sp>
      <p:sp>
        <p:nvSpPr>
          <p:cNvPr id="5" name="Shape 2"/>
          <p:cNvSpPr/>
          <p:nvPr/>
        </p:nvSpPr>
        <p:spPr>
          <a:xfrm>
            <a:off x="0" y="1783080"/>
            <a:ext cx="3047238" cy="5074920"/>
          </a:xfrm>
          <a:prstGeom prst="rect">
            <a:avLst/>
          </a:prstGeom>
          <a:solidFill>
            <a:srgbClr val="F6DCE8"/>
          </a:solidFill>
          <a:ln/>
        </p:spPr>
      </p:sp>
      <p:sp>
        <p:nvSpPr>
          <p:cNvPr id="6" name="Shape 3"/>
          <p:cNvSpPr/>
          <p:nvPr/>
        </p:nvSpPr>
        <p:spPr>
          <a:xfrm>
            <a:off x="3047238" y="1783080"/>
            <a:ext cx="3047238" cy="5074920"/>
          </a:xfrm>
          <a:prstGeom prst="rect">
            <a:avLst/>
          </a:prstGeom>
          <a:solidFill>
            <a:srgbClr val="CFE0CC"/>
          </a:solidFill>
          <a:ln/>
        </p:spPr>
      </p:sp>
      <p:sp>
        <p:nvSpPr>
          <p:cNvPr id="7" name="Shape 4"/>
          <p:cNvSpPr/>
          <p:nvPr/>
        </p:nvSpPr>
        <p:spPr>
          <a:xfrm>
            <a:off x="6094476" y="1783080"/>
            <a:ext cx="3047238" cy="5074920"/>
          </a:xfrm>
          <a:prstGeom prst="rect">
            <a:avLst/>
          </a:prstGeom>
          <a:solidFill>
            <a:srgbClr val="F7D9B0"/>
          </a:solidFill>
          <a:ln/>
        </p:spPr>
      </p:sp>
      <p:sp>
        <p:nvSpPr>
          <p:cNvPr id="8" name="Shape 5"/>
          <p:cNvSpPr/>
          <p:nvPr/>
        </p:nvSpPr>
        <p:spPr>
          <a:xfrm>
            <a:off x="9141714" y="1783080"/>
            <a:ext cx="3047238" cy="5074920"/>
          </a:xfrm>
          <a:prstGeom prst="rect">
            <a:avLst/>
          </a:prstGeom>
          <a:solidFill>
            <a:srgbClr val="DCE8EF"/>
          </a:solidFill>
          <a:ln/>
        </p:spPr>
      </p:sp>
      <p:sp>
        <p:nvSpPr>
          <p:cNvPr id="9" name="Text 6"/>
          <p:cNvSpPr/>
          <p:nvPr/>
        </p:nvSpPr>
        <p:spPr>
          <a:xfrm>
            <a:off x="0" y="1993392"/>
            <a:ext cx="3047238" cy="420624"/>
          </a:xfrm>
          <a:prstGeom prst="rect">
            <a:avLst/>
          </a:prstGeom>
          <a:noFill/>
          <a:ln/>
        </p:spPr>
        <p:txBody>
          <a:bodyPr wrap="square" lIns="0" tIns="0" rIns="0" bIns="0" rtlCol="0" anchor="ctr"/>
          <a:lstStyle/>
          <a:p>
            <a:pPr algn="ctr" indent="0" marL="0">
              <a:buNone/>
            </a:pPr>
            <a:r>
              <a:rPr lang="en-US" sz="2400" dirty="0">
                <a:solidFill>
                  <a:srgbClr val="A34E76"/>
                </a:solidFill>
                <a:latin typeface="Georgia" pitchFamily="34" charset="0"/>
                <a:ea typeface="Georgia" pitchFamily="34" charset="-122"/>
                <a:cs typeface="Georgia" pitchFamily="34" charset="-120"/>
              </a:rPr>
              <a:t>Spring</a:t>
            </a:r>
            <a:endParaRPr lang="en-US" sz="2400" dirty="0"/>
          </a:p>
        </p:txBody>
      </p:sp>
      <p:sp>
        <p:nvSpPr>
          <p:cNvPr id="10" name="Text 7"/>
          <p:cNvSpPr/>
          <p:nvPr/>
        </p:nvSpPr>
        <p:spPr>
          <a:xfrm>
            <a:off x="0" y="2450592"/>
            <a:ext cx="3047238" cy="274320"/>
          </a:xfrm>
          <a:prstGeom prst="rect">
            <a:avLst/>
          </a:prstGeom>
          <a:noFill/>
          <a:ln/>
        </p:spPr>
        <p:txBody>
          <a:bodyPr wrap="square" lIns="0" tIns="0" rIns="0" bIns="0" rtlCol="0" anchor="ctr"/>
          <a:lstStyle/>
          <a:p>
            <a:pPr algn="ctr" indent="0" marL="0">
              <a:buNone/>
            </a:pPr>
            <a:r>
              <a:rPr lang="en-US" sz="1100" b="1" spc="160" kern="0" dirty="0">
                <a:solidFill>
                  <a:srgbClr val="A34E76"/>
                </a:solidFill>
                <a:latin typeface="Calibri" pitchFamily="34" charset="0"/>
                <a:ea typeface="Calibri" pitchFamily="34" charset="-122"/>
                <a:cs typeface="Calibri" pitchFamily="34" charset="-120"/>
              </a:rPr>
              <a:t>LEVELS 21 – 40</a:t>
            </a:r>
            <a:endParaRPr lang="en-US" sz="1100" dirty="0"/>
          </a:p>
        </p:txBody>
      </p:sp>
      <p:pic>
        <p:nvPicPr>
          <p:cNvPr id="11" name="Image 1" descr="/sessions/relaxed-intelligent-einstein/mnt/outputs/t2/spring.png">    </p:cNvPr>
          <p:cNvPicPr>
            <a:picLocks noChangeAspect="1"/>
          </p:cNvPicPr>
          <p:nvPr/>
        </p:nvPicPr>
        <p:blipFill>
          <a:blip r:embed="rId2"/>
          <a:stretch>
            <a:fillRect/>
          </a:stretch>
        </p:blipFill>
        <p:spPr>
          <a:xfrm>
            <a:off x="46863" y="3277392"/>
            <a:ext cx="2953512" cy="3108960"/>
          </a:xfrm>
          <a:prstGeom prst="rect">
            <a:avLst/>
          </a:prstGeom>
        </p:spPr>
      </p:pic>
      <p:sp>
        <p:nvSpPr>
          <p:cNvPr id="12" name="Text 8"/>
          <p:cNvSpPr/>
          <p:nvPr/>
        </p:nvSpPr>
        <p:spPr>
          <a:xfrm>
            <a:off x="137160" y="6172200"/>
            <a:ext cx="2772918" cy="329184"/>
          </a:xfrm>
          <a:prstGeom prst="rect">
            <a:avLst/>
          </a:prstGeom>
          <a:noFill/>
          <a:ln/>
        </p:spPr>
        <p:txBody>
          <a:bodyPr wrap="square" lIns="0" tIns="0" rIns="0" bIns="0" rtlCol="0" anchor="ctr"/>
          <a:lstStyle/>
          <a:p>
            <a:pPr algn="ctr" indent="0" marL="0">
              <a:buNone/>
            </a:pPr>
            <a:r>
              <a:rPr lang="en-US" sz="1300" i="1" dirty="0">
                <a:solidFill>
                  <a:srgbClr val="2C3628"/>
                </a:solidFill>
                <a:latin typeface="Georgia" pitchFamily="34" charset="0"/>
                <a:ea typeface="Georgia" pitchFamily="34" charset="-122"/>
                <a:cs typeface="Georgia" pitchFamily="34" charset="-120"/>
              </a:rPr>
              <a:t>buds open into blossom</a:t>
            </a:r>
            <a:endParaRPr lang="en-US" sz="1300" dirty="0"/>
          </a:p>
        </p:txBody>
      </p:sp>
      <p:sp>
        <p:nvSpPr>
          <p:cNvPr id="13" name="Text 9"/>
          <p:cNvSpPr/>
          <p:nvPr/>
        </p:nvSpPr>
        <p:spPr>
          <a:xfrm>
            <a:off x="3047238" y="1993392"/>
            <a:ext cx="3047238" cy="420624"/>
          </a:xfrm>
          <a:prstGeom prst="rect">
            <a:avLst/>
          </a:prstGeom>
          <a:noFill/>
          <a:ln/>
        </p:spPr>
        <p:txBody>
          <a:bodyPr wrap="square" lIns="0" tIns="0" rIns="0" bIns="0" rtlCol="0" anchor="ctr"/>
          <a:lstStyle/>
          <a:p>
            <a:pPr algn="ctr" indent="0" marL="0">
              <a:buNone/>
            </a:pPr>
            <a:r>
              <a:rPr lang="en-US" sz="2400" dirty="0">
                <a:solidFill>
                  <a:srgbClr val="35543A"/>
                </a:solidFill>
                <a:latin typeface="Georgia" pitchFamily="34" charset="0"/>
                <a:ea typeface="Georgia" pitchFamily="34" charset="-122"/>
                <a:cs typeface="Georgia" pitchFamily="34" charset="-120"/>
              </a:rPr>
              <a:t>Summer</a:t>
            </a:r>
            <a:endParaRPr lang="en-US" sz="2400" dirty="0"/>
          </a:p>
        </p:txBody>
      </p:sp>
      <p:sp>
        <p:nvSpPr>
          <p:cNvPr id="14" name="Text 10"/>
          <p:cNvSpPr/>
          <p:nvPr/>
        </p:nvSpPr>
        <p:spPr>
          <a:xfrm>
            <a:off x="3047238" y="2450592"/>
            <a:ext cx="3047238" cy="274320"/>
          </a:xfrm>
          <a:prstGeom prst="rect">
            <a:avLst/>
          </a:prstGeom>
          <a:noFill/>
          <a:ln/>
        </p:spPr>
        <p:txBody>
          <a:bodyPr wrap="square" lIns="0" tIns="0" rIns="0" bIns="0" rtlCol="0" anchor="ctr"/>
          <a:lstStyle/>
          <a:p>
            <a:pPr algn="ctr" indent="0" marL="0">
              <a:buNone/>
            </a:pPr>
            <a:r>
              <a:rPr lang="en-US" sz="1100" b="1" spc="160" kern="0" dirty="0">
                <a:solidFill>
                  <a:srgbClr val="35543A"/>
                </a:solidFill>
                <a:latin typeface="Calibri" pitchFamily="34" charset="0"/>
                <a:ea typeface="Calibri" pitchFamily="34" charset="-122"/>
                <a:cs typeface="Calibri" pitchFamily="34" charset="-120"/>
              </a:rPr>
              <a:t>LEVELS 41 – 60</a:t>
            </a:r>
            <a:endParaRPr lang="en-US" sz="1100" dirty="0"/>
          </a:p>
        </p:txBody>
      </p:sp>
      <p:pic>
        <p:nvPicPr>
          <p:cNvPr id="15" name="Image 2" descr="/sessions/relaxed-intelligent-einstein/mnt/outputs/t2/summer.png">    </p:cNvPr>
          <p:cNvPicPr>
            <a:picLocks noChangeAspect="1"/>
          </p:cNvPicPr>
          <p:nvPr/>
        </p:nvPicPr>
        <p:blipFill>
          <a:blip r:embed="rId3"/>
          <a:stretch>
            <a:fillRect/>
          </a:stretch>
        </p:blipFill>
        <p:spPr>
          <a:xfrm>
            <a:off x="3094101" y="3277392"/>
            <a:ext cx="2953512" cy="3108960"/>
          </a:xfrm>
          <a:prstGeom prst="rect">
            <a:avLst/>
          </a:prstGeom>
        </p:spPr>
      </p:pic>
      <p:sp>
        <p:nvSpPr>
          <p:cNvPr id="16" name="Text 11"/>
          <p:cNvSpPr/>
          <p:nvPr/>
        </p:nvSpPr>
        <p:spPr>
          <a:xfrm>
            <a:off x="3184398" y="6172200"/>
            <a:ext cx="2772918" cy="329184"/>
          </a:xfrm>
          <a:prstGeom prst="rect">
            <a:avLst/>
          </a:prstGeom>
          <a:noFill/>
          <a:ln/>
        </p:spPr>
        <p:txBody>
          <a:bodyPr wrap="square" lIns="0" tIns="0" rIns="0" bIns="0" rtlCol="0" anchor="ctr"/>
          <a:lstStyle/>
          <a:p>
            <a:pPr algn="ctr" indent="0" marL="0">
              <a:buNone/>
            </a:pPr>
            <a:r>
              <a:rPr lang="en-US" sz="1300" i="1" dirty="0">
                <a:solidFill>
                  <a:srgbClr val="2C3628"/>
                </a:solidFill>
                <a:latin typeface="Georgia" pitchFamily="34" charset="0"/>
                <a:ea typeface="Georgia" pitchFamily="34" charset="-122"/>
                <a:cs typeface="Georgia" pitchFamily="34" charset="-120"/>
              </a:rPr>
              <a:t>deep green, and it fruits</a:t>
            </a:r>
            <a:endParaRPr lang="en-US" sz="1300" dirty="0"/>
          </a:p>
        </p:txBody>
      </p:sp>
      <p:sp>
        <p:nvSpPr>
          <p:cNvPr id="17" name="Text 12"/>
          <p:cNvSpPr/>
          <p:nvPr/>
        </p:nvSpPr>
        <p:spPr>
          <a:xfrm>
            <a:off x="6094476" y="1993392"/>
            <a:ext cx="3047238" cy="420624"/>
          </a:xfrm>
          <a:prstGeom prst="rect">
            <a:avLst/>
          </a:prstGeom>
          <a:noFill/>
          <a:ln/>
        </p:spPr>
        <p:txBody>
          <a:bodyPr wrap="square" lIns="0" tIns="0" rIns="0" bIns="0" rtlCol="0" anchor="ctr"/>
          <a:lstStyle/>
          <a:p>
            <a:pPr algn="ctr" indent="0" marL="0">
              <a:buNone/>
            </a:pPr>
            <a:r>
              <a:rPr lang="en-US" sz="2400" dirty="0">
                <a:solidFill>
                  <a:srgbClr val="9C4526"/>
                </a:solidFill>
                <a:latin typeface="Georgia" pitchFamily="34" charset="0"/>
                <a:ea typeface="Georgia" pitchFamily="34" charset="-122"/>
                <a:cs typeface="Georgia" pitchFamily="34" charset="-120"/>
              </a:rPr>
              <a:t>Fall</a:t>
            </a:r>
            <a:endParaRPr lang="en-US" sz="2400" dirty="0"/>
          </a:p>
        </p:txBody>
      </p:sp>
      <p:sp>
        <p:nvSpPr>
          <p:cNvPr id="18" name="Text 13"/>
          <p:cNvSpPr/>
          <p:nvPr/>
        </p:nvSpPr>
        <p:spPr>
          <a:xfrm>
            <a:off x="6094476" y="2450592"/>
            <a:ext cx="3047238" cy="274320"/>
          </a:xfrm>
          <a:prstGeom prst="rect">
            <a:avLst/>
          </a:prstGeom>
          <a:noFill/>
          <a:ln/>
        </p:spPr>
        <p:txBody>
          <a:bodyPr wrap="square" lIns="0" tIns="0" rIns="0" bIns="0" rtlCol="0" anchor="ctr"/>
          <a:lstStyle/>
          <a:p>
            <a:pPr algn="ctr" indent="0" marL="0">
              <a:buNone/>
            </a:pPr>
            <a:r>
              <a:rPr lang="en-US" sz="1100" b="1" spc="160" kern="0" dirty="0">
                <a:solidFill>
                  <a:srgbClr val="9C4526"/>
                </a:solidFill>
                <a:latin typeface="Calibri" pitchFamily="34" charset="0"/>
                <a:ea typeface="Calibri" pitchFamily="34" charset="-122"/>
                <a:cs typeface="Calibri" pitchFamily="34" charset="-120"/>
              </a:rPr>
              <a:t>LEVELS 61 – 80</a:t>
            </a:r>
            <a:endParaRPr lang="en-US" sz="1100" dirty="0"/>
          </a:p>
        </p:txBody>
      </p:sp>
      <p:pic>
        <p:nvPicPr>
          <p:cNvPr id="19" name="Image 3" descr="/sessions/relaxed-intelligent-einstein/mnt/outputs/t2/fall.png">    </p:cNvPr>
          <p:cNvPicPr>
            <a:picLocks noChangeAspect="1"/>
          </p:cNvPicPr>
          <p:nvPr/>
        </p:nvPicPr>
        <p:blipFill>
          <a:blip r:embed="rId4"/>
          <a:stretch>
            <a:fillRect/>
          </a:stretch>
        </p:blipFill>
        <p:spPr>
          <a:xfrm>
            <a:off x="6141339" y="3277392"/>
            <a:ext cx="2953512" cy="3108960"/>
          </a:xfrm>
          <a:prstGeom prst="rect">
            <a:avLst/>
          </a:prstGeom>
        </p:spPr>
      </p:pic>
      <p:sp>
        <p:nvSpPr>
          <p:cNvPr id="20" name="Text 14"/>
          <p:cNvSpPr/>
          <p:nvPr/>
        </p:nvSpPr>
        <p:spPr>
          <a:xfrm>
            <a:off x="6231636" y="6172200"/>
            <a:ext cx="2772918" cy="329184"/>
          </a:xfrm>
          <a:prstGeom prst="rect">
            <a:avLst/>
          </a:prstGeom>
          <a:noFill/>
          <a:ln/>
        </p:spPr>
        <p:txBody>
          <a:bodyPr wrap="square" lIns="0" tIns="0" rIns="0" bIns="0" rtlCol="0" anchor="ctr"/>
          <a:lstStyle/>
          <a:p>
            <a:pPr algn="ctr" indent="0" marL="0">
              <a:buNone/>
            </a:pPr>
            <a:r>
              <a:rPr lang="en-US" sz="1300" i="1" dirty="0">
                <a:solidFill>
                  <a:srgbClr val="2C3628"/>
                </a:solidFill>
                <a:latin typeface="Georgia" pitchFamily="34" charset="0"/>
                <a:ea typeface="Georgia" pitchFamily="34" charset="-122"/>
                <a:cs typeface="Georgia" pitchFamily="34" charset="-120"/>
              </a:rPr>
              <a:t>leaves turn, then let go</a:t>
            </a:r>
            <a:endParaRPr lang="en-US" sz="1300" dirty="0"/>
          </a:p>
        </p:txBody>
      </p:sp>
      <p:sp>
        <p:nvSpPr>
          <p:cNvPr id="21" name="Text 15"/>
          <p:cNvSpPr/>
          <p:nvPr/>
        </p:nvSpPr>
        <p:spPr>
          <a:xfrm>
            <a:off x="9141714" y="1993392"/>
            <a:ext cx="3047238" cy="420624"/>
          </a:xfrm>
          <a:prstGeom prst="rect">
            <a:avLst/>
          </a:prstGeom>
          <a:noFill/>
          <a:ln/>
        </p:spPr>
        <p:txBody>
          <a:bodyPr wrap="square" lIns="0" tIns="0" rIns="0" bIns="0" rtlCol="0" anchor="ctr"/>
          <a:lstStyle/>
          <a:p>
            <a:pPr algn="ctr" indent="0" marL="0">
              <a:buNone/>
            </a:pPr>
            <a:r>
              <a:rPr lang="en-US" sz="2400" dirty="0">
                <a:solidFill>
                  <a:srgbClr val="44606E"/>
                </a:solidFill>
                <a:latin typeface="Georgia" pitchFamily="34" charset="0"/>
                <a:ea typeface="Georgia" pitchFamily="34" charset="-122"/>
                <a:cs typeface="Georgia" pitchFamily="34" charset="-120"/>
              </a:rPr>
              <a:t>Winter</a:t>
            </a:r>
            <a:endParaRPr lang="en-US" sz="2400" dirty="0"/>
          </a:p>
        </p:txBody>
      </p:sp>
      <p:sp>
        <p:nvSpPr>
          <p:cNvPr id="22" name="Text 16"/>
          <p:cNvSpPr/>
          <p:nvPr/>
        </p:nvSpPr>
        <p:spPr>
          <a:xfrm>
            <a:off x="9141714" y="2450592"/>
            <a:ext cx="3047238" cy="274320"/>
          </a:xfrm>
          <a:prstGeom prst="rect">
            <a:avLst/>
          </a:prstGeom>
          <a:noFill/>
          <a:ln/>
        </p:spPr>
        <p:txBody>
          <a:bodyPr wrap="square" lIns="0" tIns="0" rIns="0" bIns="0" rtlCol="0" anchor="ctr"/>
          <a:lstStyle/>
          <a:p>
            <a:pPr algn="ctr" indent="0" marL="0">
              <a:buNone/>
            </a:pPr>
            <a:r>
              <a:rPr lang="en-US" sz="1100" b="1" spc="160" kern="0" dirty="0">
                <a:solidFill>
                  <a:srgbClr val="44606E"/>
                </a:solidFill>
                <a:latin typeface="Calibri" pitchFamily="34" charset="0"/>
                <a:ea typeface="Calibri" pitchFamily="34" charset="-122"/>
                <a:cs typeface="Calibri" pitchFamily="34" charset="-120"/>
              </a:rPr>
              <a:t>LEVELS 81 – 100</a:t>
            </a:r>
            <a:endParaRPr lang="en-US" sz="1100" dirty="0"/>
          </a:p>
        </p:txBody>
      </p:sp>
      <p:pic>
        <p:nvPicPr>
          <p:cNvPr id="23" name="Image 4" descr="/sessions/relaxed-intelligent-einstein/mnt/outputs/t2/winter.png">    </p:cNvPr>
          <p:cNvPicPr>
            <a:picLocks noChangeAspect="1"/>
          </p:cNvPicPr>
          <p:nvPr/>
        </p:nvPicPr>
        <p:blipFill>
          <a:blip r:embed="rId5"/>
          <a:stretch>
            <a:fillRect/>
          </a:stretch>
        </p:blipFill>
        <p:spPr>
          <a:xfrm>
            <a:off x="9188577" y="3277392"/>
            <a:ext cx="2953512" cy="3108960"/>
          </a:xfrm>
          <a:prstGeom prst="rect">
            <a:avLst/>
          </a:prstGeom>
        </p:spPr>
      </p:pic>
      <p:sp>
        <p:nvSpPr>
          <p:cNvPr id="24" name="Text 17"/>
          <p:cNvSpPr/>
          <p:nvPr/>
        </p:nvSpPr>
        <p:spPr>
          <a:xfrm>
            <a:off x="9278874" y="6172200"/>
            <a:ext cx="2772918" cy="329184"/>
          </a:xfrm>
          <a:prstGeom prst="rect">
            <a:avLst/>
          </a:prstGeom>
          <a:noFill/>
          <a:ln/>
        </p:spPr>
        <p:txBody>
          <a:bodyPr wrap="square" lIns="0" tIns="0" rIns="0" bIns="0" rtlCol="0" anchor="ctr"/>
          <a:lstStyle/>
          <a:p>
            <a:pPr algn="ctr" indent="0" marL="0">
              <a:buNone/>
            </a:pPr>
            <a:r>
              <a:rPr lang="en-US" sz="1300" i="1" dirty="0">
                <a:solidFill>
                  <a:srgbClr val="2C3628"/>
                </a:solidFill>
                <a:latin typeface="Georgia" pitchFamily="34" charset="0"/>
                <a:ea typeface="Georgia" pitchFamily="34" charset="-122"/>
                <a:cs typeface="Georgia" pitchFamily="34" charset="-120"/>
              </a:rPr>
              <a:t>bare branches under snow</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sessions/relaxed-intelligent-einstein/mnt/outputs/bg2/night_early.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777240" y="566928"/>
            <a:ext cx="7315200" cy="292608"/>
          </a:xfrm>
          <a:prstGeom prst="rect">
            <a:avLst/>
          </a:prstGeom>
          <a:noFill/>
          <a:ln/>
        </p:spPr>
        <p:txBody>
          <a:bodyPr wrap="square" lIns="0" tIns="0" rIns="0" bIns="0" rtlCol="0" anchor="ctr"/>
          <a:lstStyle/>
          <a:p>
            <a:pPr indent="0" marL="0">
              <a:buNone/>
            </a:pPr>
            <a:r>
              <a:rPr lang="en-US" sz="1200" b="1" spc="260" kern="0" dirty="0">
                <a:solidFill>
                  <a:srgbClr val="D5AE6B"/>
                </a:solidFill>
                <a:latin typeface="Calibri" pitchFamily="34" charset="0"/>
                <a:ea typeface="Calibri" pitchFamily="34" charset="-122"/>
                <a:cs typeface="Calibri" pitchFamily="34" charset="-120"/>
              </a:rPr>
              <a:t>TASKS &amp; CALENDAR</a:t>
            </a:r>
            <a:endParaRPr lang="en-US" sz="1200" dirty="0"/>
          </a:p>
        </p:txBody>
      </p:sp>
      <p:sp>
        <p:nvSpPr>
          <p:cNvPr id="4" name="Text 1"/>
          <p:cNvSpPr/>
          <p:nvPr/>
        </p:nvSpPr>
        <p:spPr>
          <a:xfrm>
            <a:off x="777240" y="960120"/>
            <a:ext cx="6949440" cy="1645920"/>
          </a:xfrm>
          <a:prstGeom prst="rect">
            <a:avLst/>
          </a:prstGeom>
          <a:noFill/>
          <a:ln/>
        </p:spPr>
        <p:txBody>
          <a:bodyPr wrap="square" lIns="0" tIns="0" rIns="0" bIns="0" rtlCol="0" anchor="ctr"/>
          <a:lstStyle/>
          <a:p>
            <a:pPr indent="0" marL="0">
              <a:lnSpc>
                <a:spcPts val="4600"/>
              </a:lnSpc>
              <a:buNone/>
            </a:pPr>
            <a:r>
              <a:rPr lang="en-US" sz="3600" dirty="0">
                <a:solidFill>
                  <a:srgbClr val="EFF1E9"/>
                </a:solidFill>
                <a:latin typeface="Georgia" pitchFamily="34" charset="0"/>
                <a:ea typeface="Georgia" pitchFamily="34" charset="-122"/>
                <a:cs typeface="Georgia" pitchFamily="34" charset="-120"/>
              </a:rPr>
              <a:t>Decide the day before</a:t>
            </a:r>
            <a:endParaRPr lang="en-US" sz="3600" dirty="0"/>
          </a:p>
          <a:p>
            <a:pPr indent="0" marL="0">
              <a:lnSpc>
                <a:spcPts val="4600"/>
              </a:lnSpc>
              <a:buNone/>
            </a:pPr>
            <a:r>
              <a:rPr lang="en-US" sz="3600" dirty="0">
                <a:solidFill>
                  <a:srgbClr val="EFF1E9"/>
                </a:solidFill>
                <a:latin typeface="Georgia" pitchFamily="34" charset="0"/>
                <a:ea typeface="Georgia" pitchFamily="34" charset="-122"/>
                <a:cs typeface="Georgia" pitchFamily="34" charset="-120"/>
              </a:rPr>
              <a:t>you start it.</a:t>
            </a:r>
            <a:endParaRPr lang="en-US" sz="3600" dirty="0"/>
          </a:p>
        </p:txBody>
      </p:sp>
      <p:sp>
        <p:nvSpPr>
          <p:cNvPr id="5" name="Text 2"/>
          <p:cNvSpPr/>
          <p:nvPr/>
        </p:nvSpPr>
        <p:spPr>
          <a:xfrm>
            <a:off x="777240" y="2880360"/>
            <a:ext cx="6035040" cy="1188720"/>
          </a:xfrm>
          <a:prstGeom prst="rect">
            <a:avLst/>
          </a:prstGeom>
          <a:noFill/>
          <a:ln/>
        </p:spPr>
        <p:txBody>
          <a:bodyPr wrap="square" lIns="0" tIns="0" rIns="0" bIns="0" rtlCol="0" anchor="ctr"/>
          <a:lstStyle/>
          <a:p>
            <a:pPr indent="0" marL="0">
              <a:lnSpc>
                <a:spcPts val="2300"/>
              </a:lnSpc>
              <a:buNone/>
            </a:pPr>
            <a:r>
              <a:rPr lang="en-US" sz="1550" dirty="0">
                <a:solidFill>
                  <a:srgbClr val="A9B4A3"/>
                </a:solidFill>
                <a:latin typeface="Calibri" pitchFamily="34" charset="0"/>
                <a:ea typeface="Calibri" pitchFamily="34" charset="-122"/>
                <a:cs typeface="Calibri" pitchFamily="34" charset="-120"/>
              </a:rPr>
              <a:t>Every task carries a due date, and the calendar lays the week out in front of you — so you choose what matters instead of reacting to whatever's loudest.</a:t>
            </a:r>
            <a:endParaRPr lang="en-US" sz="1550" dirty="0"/>
          </a:p>
        </p:txBody>
      </p:sp>
      <p:sp>
        <p:nvSpPr>
          <p:cNvPr id="6" name="Shape 3"/>
          <p:cNvSpPr/>
          <p:nvPr/>
        </p:nvSpPr>
        <p:spPr>
          <a:xfrm>
            <a:off x="7406640" y="2286000"/>
            <a:ext cx="4023360" cy="1280160"/>
          </a:xfrm>
          <a:prstGeom prst="roundRect">
            <a:avLst>
              <a:gd name="adj" fmla="val 11429"/>
            </a:avLst>
          </a:prstGeom>
          <a:solidFill>
            <a:srgbClr val="262B27"/>
          </a:solidFill>
          <a:ln w="12700">
            <a:solidFill>
              <a:srgbClr val="3D403C"/>
            </a:solidFill>
            <a:prstDash val="solid"/>
          </a:ln>
        </p:spPr>
      </p:sp>
      <p:sp>
        <p:nvSpPr>
          <p:cNvPr id="7" name="Shape 4"/>
          <p:cNvSpPr/>
          <p:nvPr/>
        </p:nvSpPr>
        <p:spPr>
          <a:xfrm>
            <a:off x="7726680" y="2578608"/>
            <a:ext cx="146304" cy="146304"/>
          </a:xfrm>
          <a:prstGeom prst="ellipse">
            <a:avLst/>
          </a:prstGeom>
          <a:solidFill>
            <a:srgbClr val="D5AE6B"/>
          </a:solidFill>
          <a:ln/>
        </p:spPr>
      </p:sp>
      <p:sp>
        <p:nvSpPr>
          <p:cNvPr id="8" name="Text 5"/>
          <p:cNvSpPr/>
          <p:nvPr/>
        </p:nvSpPr>
        <p:spPr>
          <a:xfrm>
            <a:off x="7726680" y="2834640"/>
            <a:ext cx="3383280" cy="329184"/>
          </a:xfrm>
          <a:prstGeom prst="rect">
            <a:avLst/>
          </a:prstGeom>
          <a:noFill/>
          <a:ln/>
        </p:spPr>
        <p:txBody>
          <a:bodyPr wrap="square" lIns="0" tIns="0" rIns="0" bIns="0" rtlCol="0" anchor="ctr"/>
          <a:lstStyle/>
          <a:p>
            <a:pPr indent="0" marL="0">
              <a:buNone/>
            </a:pPr>
            <a:r>
              <a:rPr lang="en-US" sz="1700" dirty="0">
                <a:solidFill>
                  <a:srgbClr val="EFF1E9"/>
                </a:solidFill>
                <a:latin typeface="Georgia" pitchFamily="34" charset="0"/>
                <a:ea typeface="Georgia" pitchFamily="34" charset="-122"/>
                <a:cs typeface="Georgia" pitchFamily="34" charset="-120"/>
              </a:rPr>
              <a:t>Due dates</a:t>
            </a:r>
            <a:endParaRPr lang="en-US" sz="1700" dirty="0"/>
          </a:p>
        </p:txBody>
      </p:sp>
      <p:sp>
        <p:nvSpPr>
          <p:cNvPr id="9" name="Text 6"/>
          <p:cNvSpPr/>
          <p:nvPr/>
        </p:nvSpPr>
        <p:spPr>
          <a:xfrm>
            <a:off x="7726680" y="3182112"/>
            <a:ext cx="3474720" cy="292608"/>
          </a:xfrm>
          <a:prstGeom prst="rect">
            <a:avLst/>
          </a:prstGeom>
          <a:noFill/>
          <a:ln/>
        </p:spPr>
        <p:txBody>
          <a:bodyPr wrap="square" lIns="0" tIns="0" rIns="0" bIns="0" rtlCol="0" anchor="ctr"/>
          <a:lstStyle/>
          <a:p>
            <a:pPr indent="0" marL="0">
              <a:lnSpc>
                <a:spcPts val="2100"/>
              </a:lnSpc>
              <a:buNone/>
            </a:pPr>
            <a:r>
              <a:rPr lang="en-US" sz="1250" dirty="0">
                <a:solidFill>
                  <a:srgbClr val="A9B4A3"/>
                </a:solidFill>
                <a:latin typeface="Calibri" pitchFamily="34" charset="0"/>
                <a:ea typeface="Calibri" pitchFamily="34" charset="-122"/>
                <a:cs typeface="Calibri" pitchFamily="34" charset="-120"/>
              </a:rPr>
              <a:t>Every task is anchored to a day</a:t>
            </a:r>
            <a:endParaRPr lang="en-US" sz="1250" dirty="0"/>
          </a:p>
        </p:txBody>
      </p:sp>
      <p:sp>
        <p:nvSpPr>
          <p:cNvPr id="10" name="Shape 7"/>
          <p:cNvSpPr/>
          <p:nvPr/>
        </p:nvSpPr>
        <p:spPr>
          <a:xfrm>
            <a:off x="7406640" y="3794760"/>
            <a:ext cx="4023360" cy="1280160"/>
          </a:xfrm>
          <a:prstGeom prst="roundRect">
            <a:avLst>
              <a:gd name="adj" fmla="val 11429"/>
            </a:avLst>
          </a:prstGeom>
          <a:solidFill>
            <a:srgbClr val="262B27"/>
          </a:solidFill>
          <a:ln w="12700">
            <a:solidFill>
              <a:srgbClr val="3D403C"/>
            </a:solidFill>
            <a:prstDash val="solid"/>
          </a:ln>
        </p:spPr>
      </p:sp>
      <p:sp>
        <p:nvSpPr>
          <p:cNvPr id="11" name="Shape 8"/>
          <p:cNvSpPr/>
          <p:nvPr/>
        </p:nvSpPr>
        <p:spPr>
          <a:xfrm>
            <a:off x="7726680" y="4087368"/>
            <a:ext cx="146304" cy="146304"/>
          </a:xfrm>
          <a:prstGeom prst="ellipse">
            <a:avLst/>
          </a:prstGeom>
          <a:solidFill>
            <a:srgbClr val="D5AE6B"/>
          </a:solidFill>
          <a:ln/>
        </p:spPr>
      </p:sp>
      <p:sp>
        <p:nvSpPr>
          <p:cNvPr id="12" name="Text 9"/>
          <p:cNvSpPr/>
          <p:nvPr/>
        </p:nvSpPr>
        <p:spPr>
          <a:xfrm>
            <a:off x="7726680" y="4343400"/>
            <a:ext cx="3383280" cy="329184"/>
          </a:xfrm>
          <a:prstGeom prst="rect">
            <a:avLst/>
          </a:prstGeom>
          <a:noFill/>
          <a:ln/>
        </p:spPr>
        <p:txBody>
          <a:bodyPr wrap="square" lIns="0" tIns="0" rIns="0" bIns="0" rtlCol="0" anchor="ctr"/>
          <a:lstStyle/>
          <a:p>
            <a:pPr indent="0" marL="0">
              <a:buNone/>
            </a:pPr>
            <a:r>
              <a:rPr lang="en-US" sz="1700" dirty="0">
                <a:solidFill>
                  <a:srgbClr val="EFF1E9"/>
                </a:solidFill>
                <a:latin typeface="Georgia" pitchFamily="34" charset="0"/>
                <a:ea typeface="Georgia" pitchFamily="34" charset="-122"/>
                <a:cs typeface="Georgia" pitchFamily="34" charset="-120"/>
              </a:rPr>
              <a:t>One calendar</a:t>
            </a:r>
            <a:endParaRPr lang="en-US" sz="1700" dirty="0"/>
          </a:p>
        </p:txBody>
      </p:sp>
      <p:sp>
        <p:nvSpPr>
          <p:cNvPr id="13" name="Text 10"/>
          <p:cNvSpPr/>
          <p:nvPr/>
        </p:nvSpPr>
        <p:spPr>
          <a:xfrm>
            <a:off x="7726680" y="4690872"/>
            <a:ext cx="3474720" cy="292608"/>
          </a:xfrm>
          <a:prstGeom prst="rect">
            <a:avLst/>
          </a:prstGeom>
          <a:noFill/>
          <a:ln/>
        </p:spPr>
        <p:txBody>
          <a:bodyPr wrap="square" lIns="0" tIns="0" rIns="0" bIns="0" rtlCol="0" anchor="ctr"/>
          <a:lstStyle/>
          <a:p>
            <a:pPr indent="0" marL="0">
              <a:lnSpc>
                <a:spcPts val="2100"/>
              </a:lnSpc>
              <a:buNone/>
            </a:pPr>
            <a:r>
              <a:rPr lang="en-US" sz="1250" dirty="0">
                <a:solidFill>
                  <a:srgbClr val="A9B4A3"/>
                </a:solidFill>
                <a:latin typeface="Calibri" pitchFamily="34" charset="0"/>
                <a:ea typeface="Calibri" pitchFamily="34" charset="-122"/>
                <a:cs typeface="Calibri" pitchFamily="34" charset="-120"/>
              </a:rPr>
              <a:t>The whole week, filled in automatically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essions/relaxed-intelligent-einstein/mnt/outputs/bg2/night_early.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777240" y="566928"/>
            <a:ext cx="7315200" cy="292608"/>
          </a:xfrm>
          <a:prstGeom prst="rect">
            <a:avLst/>
          </a:prstGeom>
          <a:noFill/>
          <a:ln/>
        </p:spPr>
        <p:txBody>
          <a:bodyPr wrap="square" lIns="0" tIns="0" rIns="0" bIns="0" rtlCol="0" anchor="ctr"/>
          <a:lstStyle/>
          <a:p>
            <a:pPr indent="0" marL="0">
              <a:buNone/>
            </a:pPr>
            <a:r>
              <a:rPr lang="en-US" sz="1200" b="1" spc="260" kern="0" dirty="0">
                <a:solidFill>
                  <a:srgbClr val="D5AE6B"/>
                </a:solidFill>
                <a:latin typeface="Calibri" pitchFamily="34" charset="0"/>
                <a:ea typeface="Calibri" pitchFamily="34" charset="-122"/>
                <a:cs typeface="Calibri" pitchFamily="34" charset="-120"/>
              </a:rPr>
              <a:t>THE RULE</a:t>
            </a:r>
            <a:endParaRPr lang="en-US" sz="1200" dirty="0"/>
          </a:p>
        </p:txBody>
      </p:sp>
      <p:sp>
        <p:nvSpPr>
          <p:cNvPr id="4" name="Text 1"/>
          <p:cNvSpPr/>
          <p:nvPr/>
        </p:nvSpPr>
        <p:spPr>
          <a:xfrm>
            <a:off x="777240" y="960120"/>
            <a:ext cx="9601200" cy="822960"/>
          </a:xfrm>
          <a:prstGeom prst="rect">
            <a:avLst/>
          </a:prstGeom>
          <a:noFill/>
          <a:ln/>
        </p:spPr>
        <p:txBody>
          <a:bodyPr wrap="square" lIns="0" tIns="0" rIns="0" bIns="0" rtlCol="0" anchor="ctr"/>
          <a:lstStyle/>
          <a:p>
            <a:pPr indent="0" marL="0">
              <a:lnSpc>
                <a:spcPts val="4600"/>
              </a:lnSpc>
              <a:buNone/>
            </a:pPr>
            <a:r>
              <a:rPr lang="en-US" sz="3600" dirty="0">
                <a:solidFill>
                  <a:srgbClr val="EFF1E9"/>
                </a:solidFill>
                <a:latin typeface="Georgia" pitchFamily="34" charset="0"/>
                <a:ea typeface="Georgia" pitchFamily="34" charset="-122"/>
                <a:cs typeface="Georgia" pitchFamily="34" charset="-120"/>
              </a:rPr>
              <a:t>Only finished work moves the tree.</a:t>
            </a:r>
            <a:endParaRPr lang="en-US" sz="3600" dirty="0"/>
          </a:p>
        </p:txBody>
      </p:sp>
      <p:sp>
        <p:nvSpPr>
          <p:cNvPr id="5" name="Text 2"/>
          <p:cNvSpPr/>
          <p:nvPr/>
        </p:nvSpPr>
        <p:spPr>
          <a:xfrm>
            <a:off x="777240" y="1965960"/>
            <a:ext cx="7863840" cy="822960"/>
          </a:xfrm>
          <a:prstGeom prst="rect">
            <a:avLst/>
          </a:prstGeom>
          <a:noFill/>
          <a:ln/>
        </p:spPr>
        <p:txBody>
          <a:bodyPr wrap="square" lIns="0" tIns="0" rIns="0" bIns="0" rtlCol="0" anchor="ctr"/>
          <a:lstStyle/>
          <a:p>
            <a:pPr indent="0" marL="0">
              <a:lnSpc>
                <a:spcPts val="2300"/>
              </a:lnSpc>
              <a:buNone/>
            </a:pPr>
            <a:r>
              <a:rPr lang="en-US" sz="1600" dirty="0">
                <a:solidFill>
                  <a:srgbClr val="A9B4A3"/>
                </a:solidFill>
                <a:latin typeface="Calibri" pitchFamily="34" charset="0"/>
                <a:ea typeface="Calibri" pitchFamily="34" charset="-122"/>
                <a:cs typeface="Calibri" pitchFamily="34" charset="-120"/>
              </a:rPr>
              <a:t>Completing a task is the single input. There's no other way to earn a level, and you can only earn one a day.</a:t>
            </a:r>
            <a:endParaRPr lang="en-US" sz="1600" dirty="0"/>
          </a:p>
        </p:txBody>
      </p:sp>
      <p:sp>
        <p:nvSpPr>
          <p:cNvPr id="6" name="Shape 3"/>
          <p:cNvSpPr/>
          <p:nvPr/>
        </p:nvSpPr>
        <p:spPr>
          <a:xfrm>
            <a:off x="777240" y="3154680"/>
            <a:ext cx="3429000" cy="2148840"/>
          </a:xfrm>
          <a:prstGeom prst="roundRect">
            <a:avLst>
              <a:gd name="adj" fmla="val 6809"/>
            </a:avLst>
          </a:prstGeom>
          <a:solidFill>
            <a:srgbClr val="262B27"/>
          </a:solidFill>
          <a:ln w="12700">
            <a:solidFill>
              <a:srgbClr val="3D403C"/>
            </a:solidFill>
            <a:prstDash val="solid"/>
          </a:ln>
        </p:spPr>
      </p:sp>
      <p:sp>
        <p:nvSpPr>
          <p:cNvPr id="7" name="Text 4"/>
          <p:cNvSpPr/>
          <p:nvPr/>
        </p:nvSpPr>
        <p:spPr>
          <a:xfrm>
            <a:off x="777240" y="3502152"/>
            <a:ext cx="3429000" cy="914400"/>
          </a:xfrm>
          <a:prstGeom prst="rect">
            <a:avLst/>
          </a:prstGeom>
          <a:noFill/>
          <a:ln/>
        </p:spPr>
        <p:txBody>
          <a:bodyPr wrap="square" lIns="0" tIns="0" rIns="0" bIns="0" rtlCol="0" anchor="ctr"/>
          <a:lstStyle/>
          <a:p>
            <a:pPr algn="ctr" indent="0" marL="0">
              <a:buNone/>
            </a:pPr>
            <a:r>
              <a:rPr lang="en-US" sz="5400" dirty="0">
                <a:solidFill>
                  <a:srgbClr val="D5AE6B"/>
                </a:solidFill>
                <a:latin typeface="Georgia" pitchFamily="34" charset="0"/>
                <a:ea typeface="Georgia" pitchFamily="34" charset="-122"/>
                <a:cs typeface="Georgia" pitchFamily="34" charset="-120"/>
              </a:rPr>
              <a:t>1</a:t>
            </a:r>
            <a:endParaRPr lang="en-US" sz="5400" dirty="0"/>
          </a:p>
        </p:txBody>
      </p:sp>
      <p:sp>
        <p:nvSpPr>
          <p:cNvPr id="8" name="Text 5"/>
          <p:cNvSpPr/>
          <p:nvPr/>
        </p:nvSpPr>
        <p:spPr>
          <a:xfrm>
            <a:off x="1051560" y="4544568"/>
            <a:ext cx="2880360" cy="548640"/>
          </a:xfrm>
          <a:prstGeom prst="rect">
            <a:avLst/>
          </a:prstGeom>
          <a:noFill/>
          <a:ln/>
        </p:spPr>
        <p:txBody>
          <a:bodyPr wrap="square" lIns="0" tIns="0" rIns="0" bIns="0" rtlCol="0" anchor="ctr"/>
          <a:lstStyle/>
          <a:p>
            <a:pPr algn="ctr" indent="0" marL="0">
              <a:lnSpc>
                <a:spcPts val="1700"/>
              </a:lnSpc>
              <a:buNone/>
            </a:pPr>
            <a:r>
              <a:rPr lang="en-US" sz="1300" dirty="0">
                <a:solidFill>
                  <a:srgbClr val="A9B4A3"/>
                </a:solidFill>
                <a:latin typeface="Calibri" pitchFamily="34" charset="0"/>
                <a:ea typeface="Calibri" pitchFamily="34" charset="-122"/>
                <a:cs typeface="Calibri" pitchFamily="34" charset="-120"/>
              </a:rPr>
              <a:t>level per day, maximum</a:t>
            </a:r>
            <a:endParaRPr lang="en-US" sz="1300" dirty="0"/>
          </a:p>
        </p:txBody>
      </p:sp>
      <p:sp>
        <p:nvSpPr>
          <p:cNvPr id="9" name="Shape 6"/>
          <p:cNvSpPr/>
          <p:nvPr/>
        </p:nvSpPr>
        <p:spPr>
          <a:xfrm>
            <a:off x="4590288" y="3154680"/>
            <a:ext cx="3429000" cy="2148840"/>
          </a:xfrm>
          <a:prstGeom prst="roundRect">
            <a:avLst>
              <a:gd name="adj" fmla="val 6809"/>
            </a:avLst>
          </a:prstGeom>
          <a:solidFill>
            <a:srgbClr val="262B27"/>
          </a:solidFill>
          <a:ln w="12700">
            <a:solidFill>
              <a:srgbClr val="3D403C"/>
            </a:solidFill>
            <a:prstDash val="solid"/>
          </a:ln>
        </p:spPr>
      </p:sp>
      <p:sp>
        <p:nvSpPr>
          <p:cNvPr id="10" name="Text 7"/>
          <p:cNvSpPr/>
          <p:nvPr/>
        </p:nvSpPr>
        <p:spPr>
          <a:xfrm>
            <a:off x="4590288" y="3502152"/>
            <a:ext cx="3429000" cy="914400"/>
          </a:xfrm>
          <a:prstGeom prst="rect">
            <a:avLst/>
          </a:prstGeom>
          <a:noFill/>
          <a:ln/>
        </p:spPr>
        <p:txBody>
          <a:bodyPr wrap="square" lIns="0" tIns="0" rIns="0" bIns="0" rtlCol="0" anchor="ctr"/>
          <a:lstStyle/>
          <a:p>
            <a:pPr algn="ctr" indent="0" marL="0">
              <a:buNone/>
            </a:pPr>
            <a:r>
              <a:rPr lang="en-US" sz="5400" dirty="0">
                <a:solidFill>
                  <a:srgbClr val="D5AE6B"/>
                </a:solidFill>
                <a:latin typeface="Georgia" pitchFamily="34" charset="0"/>
                <a:ea typeface="Georgia" pitchFamily="34" charset="-122"/>
                <a:cs typeface="Georgia" pitchFamily="34" charset="-120"/>
              </a:rPr>
              <a:t>0</a:t>
            </a:r>
            <a:endParaRPr lang="en-US" sz="5400" dirty="0"/>
          </a:p>
        </p:txBody>
      </p:sp>
      <p:sp>
        <p:nvSpPr>
          <p:cNvPr id="11" name="Text 8"/>
          <p:cNvSpPr/>
          <p:nvPr/>
        </p:nvSpPr>
        <p:spPr>
          <a:xfrm>
            <a:off x="4864608" y="4544568"/>
            <a:ext cx="2880360" cy="548640"/>
          </a:xfrm>
          <a:prstGeom prst="rect">
            <a:avLst/>
          </a:prstGeom>
          <a:noFill/>
          <a:ln/>
        </p:spPr>
        <p:txBody>
          <a:bodyPr wrap="square" lIns="0" tIns="0" rIns="0" bIns="0" rtlCol="0" anchor="ctr"/>
          <a:lstStyle/>
          <a:p>
            <a:pPr algn="ctr" indent="0" marL="0">
              <a:lnSpc>
                <a:spcPts val="1700"/>
              </a:lnSpc>
              <a:buNone/>
            </a:pPr>
            <a:r>
              <a:rPr lang="en-US" sz="1300" dirty="0">
                <a:solidFill>
                  <a:srgbClr val="A9B4A3"/>
                </a:solidFill>
                <a:latin typeface="Calibri" pitchFamily="34" charset="0"/>
                <a:ea typeface="Calibri" pitchFamily="34" charset="-122"/>
                <a:cs typeface="Calibri" pitchFamily="34" charset="-120"/>
              </a:rPr>
              <a:t>other ways to earn one</a:t>
            </a:r>
            <a:endParaRPr lang="en-US" sz="1300" dirty="0"/>
          </a:p>
        </p:txBody>
      </p:sp>
      <p:sp>
        <p:nvSpPr>
          <p:cNvPr id="12" name="Shape 9"/>
          <p:cNvSpPr/>
          <p:nvPr/>
        </p:nvSpPr>
        <p:spPr>
          <a:xfrm>
            <a:off x="8403336" y="3154680"/>
            <a:ext cx="3429000" cy="2148840"/>
          </a:xfrm>
          <a:prstGeom prst="roundRect">
            <a:avLst>
              <a:gd name="adj" fmla="val 6809"/>
            </a:avLst>
          </a:prstGeom>
          <a:solidFill>
            <a:srgbClr val="262B27"/>
          </a:solidFill>
          <a:ln w="12700">
            <a:solidFill>
              <a:srgbClr val="3D403C"/>
            </a:solidFill>
            <a:prstDash val="solid"/>
          </a:ln>
        </p:spPr>
      </p:sp>
      <p:sp>
        <p:nvSpPr>
          <p:cNvPr id="13" name="Text 10"/>
          <p:cNvSpPr/>
          <p:nvPr/>
        </p:nvSpPr>
        <p:spPr>
          <a:xfrm>
            <a:off x="8403336" y="3502152"/>
            <a:ext cx="3429000" cy="914400"/>
          </a:xfrm>
          <a:prstGeom prst="rect">
            <a:avLst/>
          </a:prstGeom>
          <a:noFill/>
          <a:ln/>
        </p:spPr>
        <p:txBody>
          <a:bodyPr wrap="square" lIns="0" tIns="0" rIns="0" bIns="0" rtlCol="0" anchor="ctr"/>
          <a:lstStyle/>
          <a:p>
            <a:pPr algn="ctr" indent="0" marL="0">
              <a:buNone/>
            </a:pPr>
            <a:r>
              <a:rPr lang="en-US" sz="5400" dirty="0">
                <a:solidFill>
                  <a:srgbClr val="D5AE6B"/>
                </a:solidFill>
                <a:latin typeface="Georgia" pitchFamily="34" charset="0"/>
                <a:ea typeface="Georgia" pitchFamily="34" charset="-122"/>
                <a:cs typeface="Georgia" pitchFamily="34" charset="-120"/>
              </a:rPr>
              <a:t>100</a:t>
            </a:r>
            <a:endParaRPr lang="en-US" sz="5400" dirty="0"/>
          </a:p>
        </p:txBody>
      </p:sp>
      <p:sp>
        <p:nvSpPr>
          <p:cNvPr id="14" name="Text 11"/>
          <p:cNvSpPr/>
          <p:nvPr/>
        </p:nvSpPr>
        <p:spPr>
          <a:xfrm>
            <a:off x="8677656" y="4544568"/>
            <a:ext cx="2880360" cy="548640"/>
          </a:xfrm>
          <a:prstGeom prst="rect">
            <a:avLst/>
          </a:prstGeom>
          <a:noFill/>
          <a:ln/>
        </p:spPr>
        <p:txBody>
          <a:bodyPr wrap="square" lIns="0" tIns="0" rIns="0" bIns="0" rtlCol="0" anchor="ctr"/>
          <a:lstStyle/>
          <a:p>
            <a:pPr algn="ctr" indent="0" marL="0">
              <a:lnSpc>
                <a:spcPts val="1700"/>
              </a:lnSpc>
              <a:buNone/>
            </a:pPr>
            <a:r>
              <a:rPr lang="en-US" sz="1300" dirty="0">
                <a:solidFill>
                  <a:srgbClr val="A9B4A3"/>
                </a:solidFill>
                <a:latin typeface="Calibri" pitchFamily="34" charset="0"/>
                <a:ea typeface="Calibri" pitchFamily="34" charset="-122"/>
                <a:cs typeface="Calibri" pitchFamily="34" charset="-120"/>
              </a:rPr>
              <a:t>levels to a full year</a:t>
            </a:r>
            <a:endParaRPr lang="en-US" sz="1300" dirty="0"/>
          </a:p>
        </p:txBody>
      </p:sp>
      <p:sp>
        <p:nvSpPr>
          <p:cNvPr id="15" name="Text 12"/>
          <p:cNvSpPr/>
          <p:nvPr/>
        </p:nvSpPr>
        <p:spPr>
          <a:xfrm>
            <a:off x="777240" y="5623560"/>
            <a:ext cx="10607040" cy="365760"/>
          </a:xfrm>
          <a:prstGeom prst="rect">
            <a:avLst/>
          </a:prstGeom>
          <a:noFill/>
          <a:ln/>
        </p:spPr>
        <p:txBody>
          <a:bodyPr wrap="square" lIns="0" tIns="0" rIns="0" bIns="0" rtlCol="0" anchor="ctr"/>
          <a:lstStyle/>
          <a:p>
            <a:pPr indent="0" marL="0">
              <a:buNone/>
            </a:pPr>
            <a:r>
              <a:rPr lang="en-US" sz="1500" i="1" dirty="0">
                <a:solidFill>
                  <a:srgbClr val="D5AE6B"/>
                </a:solidFill>
                <a:latin typeface="Georgia" pitchFamily="34" charset="0"/>
                <a:ea typeface="Georgia" pitchFamily="34" charset="-122"/>
                <a:cs typeface="Georgia" pitchFamily="34" charset="-120"/>
              </a:rPr>
              <a:t>The tree can't be gamed — which is what makes it an honest record.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essions/relaxed-intelligent-einstein/mnt/outputs/bg2/night_deep.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777240" y="566928"/>
            <a:ext cx="7315200" cy="292608"/>
          </a:xfrm>
          <a:prstGeom prst="rect">
            <a:avLst/>
          </a:prstGeom>
          <a:noFill/>
          <a:ln/>
        </p:spPr>
        <p:txBody>
          <a:bodyPr wrap="square" lIns="0" tIns="0" rIns="0" bIns="0" rtlCol="0" anchor="ctr"/>
          <a:lstStyle/>
          <a:p>
            <a:pPr indent="0" marL="0">
              <a:buNone/>
            </a:pPr>
            <a:r>
              <a:rPr lang="en-US" sz="1200" b="1" spc="260" kern="0" dirty="0">
                <a:solidFill>
                  <a:srgbClr val="D5AE6B"/>
                </a:solidFill>
                <a:latin typeface="Calibri" pitchFamily="34" charset="0"/>
                <a:ea typeface="Calibri" pitchFamily="34" charset="-122"/>
                <a:cs typeface="Calibri" pitchFamily="34" charset="-120"/>
              </a:rPr>
              <a:t>STUDY ROOMS</a:t>
            </a:r>
            <a:endParaRPr lang="en-US" sz="1200" dirty="0"/>
          </a:p>
        </p:txBody>
      </p:sp>
      <p:sp>
        <p:nvSpPr>
          <p:cNvPr id="4" name="Text 1"/>
          <p:cNvSpPr/>
          <p:nvPr/>
        </p:nvSpPr>
        <p:spPr>
          <a:xfrm>
            <a:off x="777240" y="960120"/>
            <a:ext cx="7680960" cy="1645920"/>
          </a:xfrm>
          <a:prstGeom prst="rect">
            <a:avLst/>
          </a:prstGeom>
          <a:noFill/>
          <a:ln/>
        </p:spPr>
        <p:txBody>
          <a:bodyPr wrap="square" lIns="0" tIns="0" rIns="0" bIns="0" rtlCol="0" anchor="ctr"/>
          <a:lstStyle/>
          <a:p>
            <a:pPr indent="0" marL="0">
              <a:lnSpc>
                <a:spcPts val="4600"/>
              </a:lnSpc>
              <a:buNone/>
            </a:pPr>
            <a:r>
              <a:rPr lang="en-US" sz="3600" dirty="0">
                <a:solidFill>
                  <a:srgbClr val="EFF1E9"/>
                </a:solidFill>
                <a:latin typeface="Georgia" pitchFamily="34" charset="0"/>
                <a:ea typeface="Georgia" pitchFamily="34" charset="-122"/>
                <a:cs typeface="Georgia" pitchFamily="34" charset="-120"/>
              </a:rPr>
              <a:t>People focus better when</a:t>
            </a:r>
            <a:endParaRPr lang="en-US" sz="3600" dirty="0"/>
          </a:p>
          <a:p>
            <a:pPr indent="0" marL="0">
              <a:lnSpc>
                <a:spcPts val="4600"/>
              </a:lnSpc>
              <a:buNone/>
            </a:pPr>
            <a:r>
              <a:rPr lang="en-US" sz="3600" dirty="0">
                <a:solidFill>
                  <a:srgbClr val="EFF1E9"/>
                </a:solidFill>
                <a:latin typeface="Georgia" pitchFamily="34" charset="0"/>
                <a:ea typeface="Georgia" pitchFamily="34" charset="-122"/>
                <a:cs typeface="Georgia" pitchFamily="34" charset="-120"/>
              </a:rPr>
              <a:t>someone else is there.</a:t>
            </a:r>
            <a:endParaRPr lang="en-US" sz="3600" dirty="0"/>
          </a:p>
        </p:txBody>
      </p:sp>
      <p:sp>
        <p:nvSpPr>
          <p:cNvPr id="5" name="Text 2"/>
          <p:cNvSpPr/>
          <p:nvPr/>
        </p:nvSpPr>
        <p:spPr>
          <a:xfrm>
            <a:off x="777240" y="2926080"/>
            <a:ext cx="6766560" cy="1097280"/>
          </a:xfrm>
          <a:prstGeom prst="rect">
            <a:avLst/>
          </a:prstGeom>
          <a:noFill/>
          <a:ln/>
        </p:spPr>
        <p:txBody>
          <a:bodyPr wrap="square" lIns="0" tIns="0" rIns="0" bIns="0" rtlCol="0" anchor="ctr"/>
          <a:lstStyle/>
          <a:p>
            <a:pPr indent="0" marL="0">
              <a:lnSpc>
                <a:spcPts val="2400"/>
              </a:lnSpc>
              <a:buNone/>
            </a:pPr>
            <a:r>
              <a:rPr lang="en-US" sz="1600" dirty="0">
                <a:solidFill>
                  <a:srgbClr val="A9B4A3"/>
                </a:solidFill>
                <a:latin typeface="Calibri" pitchFamily="34" charset="0"/>
                <a:ea typeface="Calibri" pitchFamily="34" charset="-122"/>
                <a:cs typeface="Calibri" pitchFamily="34" charset="-120"/>
              </a:rPr>
              <a:t>It's why libraries and study halls work. Grove reproduces that feeling without putting a camera in your face — you get company, not surveillance.</a:t>
            </a:r>
            <a:endParaRPr lang="en-US" sz="1600" dirty="0"/>
          </a:p>
        </p:txBody>
      </p:sp>
      <p:sp>
        <p:nvSpPr>
          <p:cNvPr id="6" name="Shape 3"/>
          <p:cNvSpPr/>
          <p:nvPr/>
        </p:nvSpPr>
        <p:spPr>
          <a:xfrm>
            <a:off x="777240" y="4343400"/>
            <a:ext cx="6766560" cy="1371600"/>
          </a:xfrm>
          <a:prstGeom prst="roundRect">
            <a:avLst>
              <a:gd name="adj" fmla="val 10667"/>
            </a:avLst>
          </a:prstGeom>
          <a:solidFill>
            <a:srgbClr val="333A34"/>
          </a:solidFill>
          <a:ln/>
        </p:spPr>
      </p:sp>
      <p:sp>
        <p:nvSpPr>
          <p:cNvPr id="7" name="Text 4"/>
          <p:cNvSpPr/>
          <p:nvPr/>
        </p:nvSpPr>
        <p:spPr>
          <a:xfrm>
            <a:off x="1143000" y="4709160"/>
            <a:ext cx="6035040" cy="685800"/>
          </a:xfrm>
          <a:prstGeom prst="rect">
            <a:avLst/>
          </a:prstGeom>
          <a:noFill/>
          <a:ln/>
        </p:spPr>
        <p:txBody>
          <a:bodyPr wrap="square" lIns="0" tIns="0" rIns="0" bIns="0" rtlCol="0" anchor="ctr"/>
          <a:lstStyle/>
          <a:p>
            <a:pPr indent="0" marL="0">
              <a:lnSpc>
                <a:spcPts val="2500"/>
              </a:lnSpc>
              <a:buNone/>
            </a:pPr>
            <a:r>
              <a:rPr lang="en-US" sz="1800" i="1" dirty="0">
                <a:solidFill>
                  <a:srgbClr val="EFF1E9"/>
                </a:solidFill>
                <a:latin typeface="Georgia" pitchFamily="34" charset="0"/>
                <a:ea typeface="Georgia" pitchFamily="34" charset="-122"/>
                <a:cs typeface="Georgia" pitchFamily="34" charset="-120"/>
              </a:rPr>
              <a:t>A room is a place to sit together and work — not a meeting.</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sessions/relaxed-intelligent-einstein/mnt/outputs/bg2/night_deep.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777240" y="566928"/>
            <a:ext cx="7315200" cy="292608"/>
          </a:xfrm>
          <a:prstGeom prst="rect">
            <a:avLst/>
          </a:prstGeom>
          <a:noFill/>
          <a:ln/>
        </p:spPr>
        <p:txBody>
          <a:bodyPr wrap="square" lIns="0" tIns="0" rIns="0" bIns="0" rtlCol="0" anchor="ctr"/>
          <a:lstStyle/>
          <a:p>
            <a:pPr indent="0" marL="0">
              <a:buNone/>
            </a:pPr>
            <a:r>
              <a:rPr lang="en-US" sz="1200" b="1" spc="260" kern="0" dirty="0">
                <a:solidFill>
                  <a:srgbClr val="D5AE6B"/>
                </a:solidFill>
                <a:latin typeface="Calibri" pitchFamily="34" charset="0"/>
                <a:ea typeface="Calibri" pitchFamily="34" charset="-122"/>
                <a:cs typeface="Calibri" pitchFamily="34" charset="-120"/>
              </a:rPr>
              <a:t>INSIDE A ROOM</a:t>
            </a:r>
            <a:endParaRPr lang="en-US" sz="1200" dirty="0"/>
          </a:p>
        </p:txBody>
      </p:sp>
      <p:sp>
        <p:nvSpPr>
          <p:cNvPr id="4" name="Text 1"/>
          <p:cNvSpPr/>
          <p:nvPr/>
        </p:nvSpPr>
        <p:spPr>
          <a:xfrm>
            <a:off x="777240" y="960120"/>
            <a:ext cx="9601200" cy="822960"/>
          </a:xfrm>
          <a:prstGeom prst="rect">
            <a:avLst/>
          </a:prstGeom>
          <a:noFill/>
          <a:ln/>
        </p:spPr>
        <p:txBody>
          <a:bodyPr wrap="square" lIns="0" tIns="0" rIns="0" bIns="0" rtlCol="0" anchor="ctr"/>
          <a:lstStyle/>
          <a:p>
            <a:pPr indent="0" marL="0">
              <a:lnSpc>
                <a:spcPts val="4600"/>
              </a:lnSpc>
              <a:buNone/>
            </a:pPr>
            <a:r>
              <a:rPr lang="en-US" sz="3500" dirty="0">
                <a:solidFill>
                  <a:srgbClr val="EFF1E9"/>
                </a:solidFill>
                <a:latin typeface="Georgia" pitchFamily="34" charset="0"/>
                <a:ea typeface="Georgia" pitchFamily="34" charset="-122"/>
                <a:cs typeface="Georgia" pitchFamily="34" charset="-120"/>
              </a:rPr>
              <a:t>The room is shared, not just visible.</a:t>
            </a:r>
            <a:endParaRPr lang="en-US" sz="3500" dirty="0"/>
          </a:p>
        </p:txBody>
      </p:sp>
      <p:sp>
        <p:nvSpPr>
          <p:cNvPr id="5" name="Text 2"/>
          <p:cNvSpPr/>
          <p:nvPr/>
        </p:nvSpPr>
        <p:spPr>
          <a:xfrm>
            <a:off x="777240" y="1965960"/>
            <a:ext cx="7863840" cy="411480"/>
          </a:xfrm>
          <a:prstGeom prst="rect">
            <a:avLst/>
          </a:prstGeom>
          <a:noFill/>
          <a:ln/>
        </p:spPr>
        <p:txBody>
          <a:bodyPr wrap="square" lIns="0" tIns="0" rIns="0" bIns="0" rtlCol="0" anchor="ctr"/>
          <a:lstStyle/>
          <a:p>
            <a:pPr indent="0" marL="0">
              <a:lnSpc>
                <a:spcPts val="2100"/>
              </a:lnSpc>
              <a:buNone/>
            </a:pPr>
            <a:r>
              <a:rPr lang="en-US" sz="1550" dirty="0">
                <a:solidFill>
                  <a:srgbClr val="A9B4A3"/>
                </a:solidFill>
                <a:latin typeface="Calibri" pitchFamily="34" charset="0"/>
                <a:ea typeface="Calibri" pitchFamily="34" charset="-122"/>
                <a:cs typeface="Calibri" pitchFamily="34" charset="-120"/>
              </a:rPr>
              <a:t>Everyone in the room sees the same state at the same time.</a:t>
            </a:r>
            <a:endParaRPr lang="en-US" sz="1550" dirty="0"/>
          </a:p>
        </p:txBody>
      </p:sp>
      <p:sp>
        <p:nvSpPr>
          <p:cNvPr id="6" name="Shape 3"/>
          <p:cNvSpPr/>
          <p:nvPr/>
        </p:nvSpPr>
        <p:spPr>
          <a:xfrm>
            <a:off x="777240" y="2788920"/>
            <a:ext cx="3429000" cy="2606040"/>
          </a:xfrm>
          <a:prstGeom prst="roundRect">
            <a:avLst>
              <a:gd name="adj" fmla="val 5614"/>
            </a:avLst>
          </a:prstGeom>
          <a:solidFill>
            <a:srgbClr val="262B27"/>
          </a:solidFill>
          <a:ln w="12700">
            <a:solidFill>
              <a:srgbClr val="3D403C"/>
            </a:solidFill>
            <a:prstDash val="solid"/>
          </a:ln>
        </p:spPr>
      </p:sp>
      <p:sp>
        <p:nvSpPr>
          <p:cNvPr id="7" name="Shape 4"/>
          <p:cNvSpPr/>
          <p:nvPr/>
        </p:nvSpPr>
        <p:spPr>
          <a:xfrm>
            <a:off x="1124712" y="3172968"/>
            <a:ext cx="164592" cy="164592"/>
          </a:xfrm>
          <a:prstGeom prst="ellipse">
            <a:avLst/>
          </a:prstGeom>
          <a:solidFill>
            <a:srgbClr val="D5AE6B"/>
          </a:solidFill>
          <a:ln/>
        </p:spPr>
      </p:sp>
      <p:sp>
        <p:nvSpPr>
          <p:cNvPr id="8" name="Text 5"/>
          <p:cNvSpPr/>
          <p:nvPr/>
        </p:nvSpPr>
        <p:spPr>
          <a:xfrm>
            <a:off x="1124712" y="3502152"/>
            <a:ext cx="2734056" cy="685800"/>
          </a:xfrm>
          <a:prstGeom prst="rect">
            <a:avLst/>
          </a:prstGeom>
          <a:noFill/>
          <a:ln/>
        </p:spPr>
        <p:txBody>
          <a:bodyPr wrap="square" lIns="0" tIns="0" rIns="0" bIns="0" rtlCol="0" anchor="ctr"/>
          <a:lstStyle/>
          <a:p>
            <a:pPr indent="0" marL="0">
              <a:lnSpc>
                <a:spcPts val="2400"/>
              </a:lnSpc>
              <a:buNone/>
            </a:pPr>
            <a:r>
              <a:rPr lang="en-US" sz="1800" dirty="0">
                <a:solidFill>
                  <a:srgbClr val="EFF1E9"/>
                </a:solidFill>
                <a:latin typeface="Georgia" pitchFamily="34" charset="0"/>
                <a:ea typeface="Georgia" pitchFamily="34" charset="-122"/>
                <a:cs typeface="Georgia" pitchFamily="34" charset="-120"/>
              </a:rPr>
              <a:t>The host sets the scene</a:t>
            </a:r>
            <a:endParaRPr lang="en-US" sz="1800" dirty="0"/>
          </a:p>
        </p:txBody>
      </p:sp>
      <p:sp>
        <p:nvSpPr>
          <p:cNvPr id="9" name="Text 6"/>
          <p:cNvSpPr/>
          <p:nvPr/>
        </p:nvSpPr>
        <p:spPr>
          <a:xfrm>
            <a:off x="1124712" y="4270248"/>
            <a:ext cx="2734056" cy="960120"/>
          </a:xfrm>
          <a:prstGeom prst="rect">
            <a:avLst/>
          </a:prstGeom>
          <a:noFill/>
          <a:ln/>
        </p:spPr>
        <p:txBody>
          <a:bodyPr wrap="square" lIns="0" tIns="0" rIns="0" bIns="0" rtlCol="0" anchor="ctr"/>
          <a:lstStyle/>
          <a:p>
            <a:pPr indent="0" marL="0">
              <a:lnSpc>
                <a:spcPts val="1800"/>
              </a:lnSpc>
              <a:buNone/>
            </a:pPr>
            <a:r>
              <a:rPr lang="en-US" sz="1300" dirty="0">
                <a:solidFill>
                  <a:srgbClr val="A9B4A3"/>
                </a:solidFill>
                <a:latin typeface="Calibri" pitchFamily="34" charset="0"/>
                <a:ea typeface="Calibri" pitchFamily="34" charset="-122"/>
                <a:cs typeface="Calibri" pitchFamily="34" charset="-120"/>
              </a:rPr>
              <a:t>Background and ambient sound change for everyone in the room at once.</a:t>
            </a:r>
            <a:endParaRPr lang="en-US" sz="1300" dirty="0"/>
          </a:p>
        </p:txBody>
      </p:sp>
      <p:sp>
        <p:nvSpPr>
          <p:cNvPr id="10" name="Shape 7"/>
          <p:cNvSpPr/>
          <p:nvPr/>
        </p:nvSpPr>
        <p:spPr>
          <a:xfrm>
            <a:off x="4590288" y="2788920"/>
            <a:ext cx="3429000" cy="2606040"/>
          </a:xfrm>
          <a:prstGeom prst="roundRect">
            <a:avLst>
              <a:gd name="adj" fmla="val 5614"/>
            </a:avLst>
          </a:prstGeom>
          <a:solidFill>
            <a:srgbClr val="262B27"/>
          </a:solidFill>
          <a:ln w="12700">
            <a:solidFill>
              <a:srgbClr val="3D403C"/>
            </a:solidFill>
            <a:prstDash val="solid"/>
          </a:ln>
        </p:spPr>
      </p:sp>
      <p:sp>
        <p:nvSpPr>
          <p:cNvPr id="11" name="Shape 8"/>
          <p:cNvSpPr/>
          <p:nvPr/>
        </p:nvSpPr>
        <p:spPr>
          <a:xfrm>
            <a:off x="4937760" y="3172968"/>
            <a:ext cx="164592" cy="164592"/>
          </a:xfrm>
          <a:prstGeom prst="ellipse">
            <a:avLst/>
          </a:prstGeom>
          <a:solidFill>
            <a:srgbClr val="D5AE6B"/>
          </a:solidFill>
          <a:ln/>
        </p:spPr>
      </p:sp>
      <p:sp>
        <p:nvSpPr>
          <p:cNvPr id="12" name="Text 9"/>
          <p:cNvSpPr/>
          <p:nvPr/>
        </p:nvSpPr>
        <p:spPr>
          <a:xfrm>
            <a:off x="4937760" y="3502152"/>
            <a:ext cx="2734056" cy="685800"/>
          </a:xfrm>
          <a:prstGeom prst="rect">
            <a:avLst/>
          </a:prstGeom>
          <a:noFill/>
          <a:ln/>
        </p:spPr>
        <p:txBody>
          <a:bodyPr wrap="square" lIns="0" tIns="0" rIns="0" bIns="0" rtlCol="0" anchor="ctr"/>
          <a:lstStyle/>
          <a:p>
            <a:pPr indent="0" marL="0">
              <a:lnSpc>
                <a:spcPts val="2400"/>
              </a:lnSpc>
              <a:buNone/>
            </a:pPr>
            <a:r>
              <a:rPr lang="en-US" sz="1800" dirty="0">
                <a:solidFill>
                  <a:srgbClr val="EFF1E9"/>
                </a:solidFill>
                <a:latin typeface="Georgia" pitchFamily="34" charset="0"/>
                <a:ea typeface="Georgia" pitchFamily="34" charset="-122"/>
                <a:cs typeface="Georgia" pitchFamily="34" charset="-120"/>
              </a:rPr>
              <a:t>Chat, live</a:t>
            </a:r>
            <a:endParaRPr lang="en-US" sz="1800" dirty="0"/>
          </a:p>
        </p:txBody>
      </p:sp>
      <p:sp>
        <p:nvSpPr>
          <p:cNvPr id="13" name="Text 10"/>
          <p:cNvSpPr/>
          <p:nvPr/>
        </p:nvSpPr>
        <p:spPr>
          <a:xfrm>
            <a:off x="4937760" y="4270248"/>
            <a:ext cx="2734056" cy="960120"/>
          </a:xfrm>
          <a:prstGeom prst="rect">
            <a:avLst/>
          </a:prstGeom>
          <a:noFill/>
          <a:ln/>
        </p:spPr>
        <p:txBody>
          <a:bodyPr wrap="square" lIns="0" tIns="0" rIns="0" bIns="0" rtlCol="0" anchor="ctr"/>
          <a:lstStyle/>
          <a:p>
            <a:pPr indent="0" marL="0">
              <a:lnSpc>
                <a:spcPts val="1800"/>
              </a:lnSpc>
              <a:buNone/>
            </a:pPr>
            <a:r>
              <a:rPr lang="en-US" sz="1300" dirty="0">
                <a:solidFill>
                  <a:srgbClr val="A9B4A3"/>
                </a:solidFill>
                <a:latin typeface="Calibri" pitchFamily="34" charset="0"/>
                <a:ea typeface="Calibri" pitchFamily="34" charset="-122"/>
                <a:cs typeface="Calibri" pitchFamily="34" charset="-120"/>
              </a:rPr>
              <a:t>Messages arrive in real time and stay grouped by day.</a:t>
            </a:r>
            <a:endParaRPr lang="en-US" sz="1300" dirty="0"/>
          </a:p>
        </p:txBody>
      </p:sp>
      <p:sp>
        <p:nvSpPr>
          <p:cNvPr id="14" name="Shape 11"/>
          <p:cNvSpPr/>
          <p:nvPr/>
        </p:nvSpPr>
        <p:spPr>
          <a:xfrm>
            <a:off x="8403336" y="2788920"/>
            <a:ext cx="3429000" cy="2606040"/>
          </a:xfrm>
          <a:prstGeom prst="roundRect">
            <a:avLst>
              <a:gd name="adj" fmla="val 5614"/>
            </a:avLst>
          </a:prstGeom>
          <a:solidFill>
            <a:srgbClr val="262B27"/>
          </a:solidFill>
          <a:ln w="12700">
            <a:solidFill>
              <a:srgbClr val="3D403C"/>
            </a:solidFill>
            <a:prstDash val="solid"/>
          </a:ln>
        </p:spPr>
      </p:sp>
      <p:sp>
        <p:nvSpPr>
          <p:cNvPr id="15" name="Shape 12"/>
          <p:cNvSpPr/>
          <p:nvPr/>
        </p:nvSpPr>
        <p:spPr>
          <a:xfrm>
            <a:off x="8750808" y="3172968"/>
            <a:ext cx="164592" cy="164592"/>
          </a:xfrm>
          <a:prstGeom prst="ellipse">
            <a:avLst/>
          </a:prstGeom>
          <a:solidFill>
            <a:srgbClr val="D5AE6B"/>
          </a:solidFill>
          <a:ln/>
        </p:spPr>
      </p:sp>
      <p:sp>
        <p:nvSpPr>
          <p:cNvPr id="16" name="Text 13"/>
          <p:cNvSpPr/>
          <p:nvPr/>
        </p:nvSpPr>
        <p:spPr>
          <a:xfrm>
            <a:off x="8750808" y="3502152"/>
            <a:ext cx="2734056" cy="685800"/>
          </a:xfrm>
          <a:prstGeom prst="rect">
            <a:avLst/>
          </a:prstGeom>
          <a:noFill/>
          <a:ln/>
        </p:spPr>
        <p:txBody>
          <a:bodyPr wrap="square" lIns="0" tIns="0" rIns="0" bIns="0" rtlCol="0" anchor="ctr"/>
          <a:lstStyle/>
          <a:p>
            <a:pPr indent="0" marL="0">
              <a:lnSpc>
                <a:spcPts val="2400"/>
              </a:lnSpc>
              <a:buNone/>
            </a:pPr>
            <a:r>
              <a:rPr lang="en-US" sz="1800" dirty="0">
                <a:solidFill>
                  <a:srgbClr val="EFF1E9"/>
                </a:solidFill>
                <a:latin typeface="Georgia" pitchFamily="34" charset="0"/>
                <a:ea typeface="Georgia" pitchFamily="34" charset="-122"/>
                <a:cs typeface="Georgia" pitchFamily="34" charset="-120"/>
              </a:rPr>
              <a:t>Invite from inside</a:t>
            </a:r>
            <a:endParaRPr lang="en-US" sz="1800" dirty="0"/>
          </a:p>
        </p:txBody>
      </p:sp>
      <p:sp>
        <p:nvSpPr>
          <p:cNvPr id="17" name="Text 14"/>
          <p:cNvSpPr/>
          <p:nvPr/>
        </p:nvSpPr>
        <p:spPr>
          <a:xfrm>
            <a:off x="8750808" y="4270248"/>
            <a:ext cx="2734056" cy="960120"/>
          </a:xfrm>
          <a:prstGeom prst="rect">
            <a:avLst/>
          </a:prstGeom>
          <a:noFill/>
          <a:ln/>
        </p:spPr>
        <p:txBody>
          <a:bodyPr wrap="square" lIns="0" tIns="0" rIns="0" bIns="0" rtlCol="0" anchor="ctr"/>
          <a:lstStyle/>
          <a:p>
            <a:pPr indent="0" marL="0">
              <a:lnSpc>
                <a:spcPts val="1800"/>
              </a:lnSpc>
              <a:buNone/>
            </a:pPr>
            <a:r>
              <a:rPr lang="en-US" sz="1300" dirty="0">
                <a:solidFill>
                  <a:srgbClr val="A9B4A3"/>
                </a:solidFill>
                <a:latin typeface="Calibri" pitchFamily="34" charset="0"/>
                <a:ea typeface="Calibri" pitchFamily="34" charset="-122"/>
                <a:cs typeface="Calibri" pitchFamily="34" charset="-120"/>
              </a:rPr>
              <a:t>Pull a friend straight into the room you're already sitting in.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sessions/relaxed-intelligent-einstein/mnt/outputs/bg2/night_demo.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548640" y="1188720"/>
            <a:ext cx="11091672" cy="914400"/>
          </a:xfrm>
          <a:prstGeom prst="rect">
            <a:avLst/>
          </a:prstGeom>
          <a:noFill/>
          <a:ln/>
        </p:spPr>
        <p:txBody>
          <a:bodyPr wrap="square" lIns="0" tIns="0" rIns="0" bIns="0" rtlCol="0" anchor="ctr"/>
          <a:lstStyle/>
          <a:p>
            <a:pPr algn="ctr" indent="0" marL="0">
              <a:buNone/>
            </a:pPr>
            <a:r>
              <a:rPr lang="en-US" sz="5000" dirty="0">
                <a:solidFill>
                  <a:srgbClr val="EFF1E9"/>
                </a:solidFill>
                <a:latin typeface="Georgia" pitchFamily="34" charset="0"/>
                <a:ea typeface="Georgia" pitchFamily="34" charset="-122"/>
                <a:cs typeface="Georgia" pitchFamily="34" charset="-120"/>
              </a:rPr>
              <a:t>Live demo</a:t>
            </a:r>
            <a:endParaRPr lang="en-US" sz="5000" dirty="0"/>
          </a:p>
        </p:txBody>
      </p:sp>
      <p:sp>
        <p:nvSpPr>
          <p:cNvPr id="4" name="Shape 1"/>
          <p:cNvSpPr/>
          <p:nvPr/>
        </p:nvSpPr>
        <p:spPr>
          <a:xfrm>
            <a:off x="777240" y="2788920"/>
            <a:ext cx="3429000" cy="2468880"/>
          </a:xfrm>
          <a:prstGeom prst="roundRect">
            <a:avLst>
              <a:gd name="adj" fmla="val 5926"/>
            </a:avLst>
          </a:prstGeom>
          <a:solidFill>
            <a:srgbClr val="262B27"/>
          </a:solidFill>
          <a:ln w="12700">
            <a:solidFill>
              <a:srgbClr val="3D403C"/>
            </a:solidFill>
            <a:prstDash val="solid"/>
          </a:ln>
        </p:spPr>
      </p:sp>
      <p:sp>
        <p:nvSpPr>
          <p:cNvPr id="5" name="Text 2"/>
          <p:cNvSpPr/>
          <p:nvPr/>
        </p:nvSpPr>
        <p:spPr>
          <a:xfrm>
            <a:off x="1124712" y="3108960"/>
            <a:ext cx="1371600" cy="457200"/>
          </a:xfrm>
          <a:prstGeom prst="rect">
            <a:avLst/>
          </a:prstGeom>
          <a:noFill/>
          <a:ln/>
        </p:spPr>
        <p:txBody>
          <a:bodyPr wrap="square" lIns="0" tIns="0" rIns="0" bIns="0" rtlCol="0" anchor="ctr"/>
          <a:lstStyle/>
          <a:p>
            <a:pPr indent="0" marL="0">
              <a:buNone/>
            </a:pPr>
            <a:r>
              <a:rPr lang="en-US" sz="2600" dirty="0">
                <a:solidFill>
                  <a:srgbClr val="D5AE6B"/>
                </a:solidFill>
                <a:latin typeface="Georgia" pitchFamily="34" charset="0"/>
                <a:ea typeface="Georgia" pitchFamily="34" charset="-122"/>
                <a:cs typeface="Georgia" pitchFamily="34" charset="-120"/>
              </a:rPr>
              <a:t>01</a:t>
            </a:r>
            <a:endParaRPr lang="en-US" sz="2600" dirty="0"/>
          </a:p>
        </p:txBody>
      </p:sp>
      <p:sp>
        <p:nvSpPr>
          <p:cNvPr id="6" name="Text 3"/>
          <p:cNvSpPr/>
          <p:nvPr/>
        </p:nvSpPr>
        <p:spPr>
          <a:xfrm>
            <a:off x="1124712" y="3703320"/>
            <a:ext cx="2734056" cy="365760"/>
          </a:xfrm>
          <a:prstGeom prst="rect">
            <a:avLst/>
          </a:prstGeom>
          <a:noFill/>
          <a:ln/>
        </p:spPr>
        <p:txBody>
          <a:bodyPr wrap="square" lIns="0" tIns="0" rIns="0" bIns="0" rtlCol="0" anchor="ctr"/>
          <a:lstStyle/>
          <a:p>
            <a:pPr indent="0" marL="0">
              <a:buNone/>
            </a:pPr>
            <a:r>
              <a:rPr lang="en-US" sz="1800" dirty="0">
                <a:solidFill>
                  <a:srgbClr val="EFF1E9"/>
                </a:solidFill>
                <a:latin typeface="Georgia" pitchFamily="34" charset="0"/>
                <a:ea typeface="Georgia" pitchFamily="34" charset="-122"/>
                <a:cs typeface="Georgia" pitchFamily="34" charset="-120"/>
              </a:rPr>
              <a:t>Make it yours</a:t>
            </a:r>
            <a:endParaRPr lang="en-US" sz="1800" dirty="0"/>
          </a:p>
        </p:txBody>
      </p:sp>
      <p:sp>
        <p:nvSpPr>
          <p:cNvPr id="7" name="Text 4"/>
          <p:cNvSpPr/>
          <p:nvPr/>
        </p:nvSpPr>
        <p:spPr>
          <a:xfrm>
            <a:off x="1124712" y="4142232"/>
            <a:ext cx="2734056" cy="868680"/>
          </a:xfrm>
          <a:prstGeom prst="rect">
            <a:avLst/>
          </a:prstGeom>
          <a:noFill/>
          <a:ln/>
        </p:spPr>
        <p:txBody>
          <a:bodyPr wrap="square" lIns="0" tIns="0" rIns="0" bIns="0" rtlCol="0" anchor="ctr"/>
          <a:lstStyle/>
          <a:p>
            <a:pPr indent="0" marL="0">
              <a:lnSpc>
                <a:spcPts val="1700"/>
              </a:lnSpc>
              <a:buNone/>
            </a:pPr>
            <a:r>
              <a:rPr lang="en-US" sz="1250" dirty="0">
                <a:solidFill>
                  <a:srgbClr val="A9B4A3"/>
                </a:solidFill>
                <a:latin typeface="Calibri" pitchFamily="34" charset="0"/>
                <a:ea typeface="Calibri" pitchFamily="34" charset="-122"/>
                <a:cs typeface="Calibri" pitchFamily="34" charset="-120"/>
              </a:rPr>
              <a:t>Log in, set your photo and bio, add a friend</a:t>
            </a:r>
            <a:endParaRPr lang="en-US" sz="1250" dirty="0"/>
          </a:p>
        </p:txBody>
      </p:sp>
      <p:sp>
        <p:nvSpPr>
          <p:cNvPr id="8" name="Shape 5"/>
          <p:cNvSpPr/>
          <p:nvPr/>
        </p:nvSpPr>
        <p:spPr>
          <a:xfrm>
            <a:off x="4590288" y="2788920"/>
            <a:ext cx="3429000" cy="2468880"/>
          </a:xfrm>
          <a:prstGeom prst="roundRect">
            <a:avLst>
              <a:gd name="adj" fmla="val 5926"/>
            </a:avLst>
          </a:prstGeom>
          <a:solidFill>
            <a:srgbClr val="262B27"/>
          </a:solidFill>
          <a:ln w="12700">
            <a:solidFill>
              <a:srgbClr val="3D403C"/>
            </a:solidFill>
            <a:prstDash val="solid"/>
          </a:ln>
        </p:spPr>
      </p:sp>
      <p:sp>
        <p:nvSpPr>
          <p:cNvPr id="9" name="Text 6"/>
          <p:cNvSpPr/>
          <p:nvPr/>
        </p:nvSpPr>
        <p:spPr>
          <a:xfrm>
            <a:off x="4937760" y="3108960"/>
            <a:ext cx="1371600" cy="457200"/>
          </a:xfrm>
          <a:prstGeom prst="rect">
            <a:avLst/>
          </a:prstGeom>
          <a:noFill/>
          <a:ln/>
        </p:spPr>
        <p:txBody>
          <a:bodyPr wrap="square" lIns="0" tIns="0" rIns="0" bIns="0" rtlCol="0" anchor="ctr"/>
          <a:lstStyle/>
          <a:p>
            <a:pPr indent="0" marL="0">
              <a:buNone/>
            </a:pPr>
            <a:r>
              <a:rPr lang="en-US" sz="2600" dirty="0">
                <a:solidFill>
                  <a:srgbClr val="D5AE6B"/>
                </a:solidFill>
                <a:latin typeface="Georgia" pitchFamily="34" charset="0"/>
                <a:ea typeface="Georgia" pitchFamily="34" charset="-122"/>
                <a:cs typeface="Georgia" pitchFamily="34" charset="-120"/>
              </a:rPr>
              <a:t>02</a:t>
            </a:r>
            <a:endParaRPr lang="en-US" sz="2600" dirty="0"/>
          </a:p>
        </p:txBody>
      </p:sp>
      <p:sp>
        <p:nvSpPr>
          <p:cNvPr id="10" name="Text 7"/>
          <p:cNvSpPr/>
          <p:nvPr/>
        </p:nvSpPr>
        <p:spPr>
          <a:xfrm>
            <a:off x="4937760" y="3703320"/>
            <a:ext cx="2734056" cy="365760"/>
          </a:xfrm>
          <a:prstGeom prst="rect">
            <a:avLst/>
          </a:prstGeom>
          <a:noFill/>
          <a:ln/>
        </p:spPr>
        <p:txBody>
          <a:bodyPr wrap="square" lIns="0" tIns="0" rIns="0" bIns="0" rtlCol="0" anchor="ctr"/>
          <a:lstStyle/>
          <a:p>
            <a:pPr indent="0" marL="0">
              <a:buNone/>
            </a:pPr>
            <a:r>
              <a:rPr lang="en-US" sz="1800" dirty="0">
                <a:solidFill>
                  <a:srgbClr val="EFF1E9"/>
                </a:solidFill>
                <a:latin typeface="Georgia" pitchFamily="34" charset="0"/>
                <a:ea typeface="Georgia" pitchFamily="34" charset="-122"/>
                <a:cs typeface="Georgia" pitchFamily="34" charset="-120"/>
              </a:rPr>
              <a:t>Plan and finish</a:t>
            </a:r>
            <a:endParaRPr lang="en-US" sz="1800" dirty="0"/>
          </a:p>
        </p:txBody>
      </p:sp>
      <p:sp>
        <p:nvSpPr>
          <p:cNvPr id="11" name="Text 8"/>
          <p:cNvSpPr/>
          <p:nvPr/>
        </p:nvSpPr>
        <p:spPr>
          <a:xfrm>
            <a:off x="4937760" y="4142232"/>
            <a:ext cx="2734056" cy="868680"/>
          </a:xfrm>
          <a:prstGeom prst="rect">
            <a:avLst/>
          </a:prstGeom>
          <a:noFill/>
          <a:ln/>
        </p:spPr>
        <p:txBody>
          <a:bodyPr wrap="square" lIns="0" tIns="0" rIns="0" bIns="0" rtlCol="0" anchor="ctr"/>
          <a:lstStyle/>
          <a:p>
            <a:pPr indent="0" marL="0">
              <a:lnSpc>
                <a:spcPts val="1700"/>
              </a:lnSpc>
              <a:buNone/>
            </a:pPr>
            <a:r>
              <a:rPr lang="en-US" sz="1250" dirty="0">
                <a:solidFill>
                  <a:srgbClr val="A9B4A3"/>
                </a:solidFill>
                <a:latin typeface="Calibri" pitchFamily="34" charset="0"/>
                <a:ea typeface="Calibri" pitchFamily="34" charset="-122"/>
                <a:cs typeface="Calibri" pitchFamily="34" charset="-120"/>
              </a:rPr>
              <a:t>Add homework #1, see it on the calendar, check it off</a:t>
            </a:r>
            <a:endParaRPr lang="en-US" sz="1250" dirty="0"/>
          </a:p>
        </p:txBody>
      </p:sp>
      <p:sp>
        <p:nvSpPr>
          <p:cNvPr id="12" name="Shape 9"/>
          <p:cNvSpPr/>
          <p:nvPr/>
        </p:nvSpPr>
        <p:spPr>
          <a:xfrm>
            <a:off x="8403336" y="2788920"/>
            <a:ext cx="3429000" cy="2468880"/>
          </a:xfrm>
          <a:prstGeom prst="roundRect">
            <a:avLst>
              <a:gd name="adj" fmla="val 5926"/>
            </a:avLst>
          </a:prstGeom>
          <a:solidFill>
            <a:srgbClr val="262B27"/>
          </a:solidFill>
          <a:ln w="12700">
            <a:solidFill>
              <a:srgbClr val="3D403C"/>
            </a:solidFill>
            <a:prstDash val="solid"/>
          </a:ln>
        </p:spPr>
      </p:sp>
      <p:sp>
        <p:nvSpPr>
          <p:cNvPr id="13" name="Text 10"/>
          <p:cNvSpPr/>
          <p:nvPr/>
        </p:nvSpPr>
        <p:spPr>
          <a:xfrm>
            <a:off x="8750808" y="3108960"/>
            <a:ext cx="1371600" cy="457200"/>
          </a:xfrm>
          <a:prstGeom prst="rect">
            <a:avLst/>
          </a:prstGeom>
          <a:noFill/>
          <a:ln/>
        </p:spPr>
        <p:txBody>
          <a:bodyPr wrap="square" lIns="0" tIns="0" rIns="0" bIns="0" rtlCol="0" anchor="ctr"/>
          <a:lstStyle/>
          <a:p>
            <a:pPr indent="0" marL="0">
              <a:buNone/>
            </a:pPr>
            <a:r>
              <a:rPr lang="en-US" sz="2600" dirty="0">
                <a:solidFill>
                  <a:srgbClr val="D5AE6B"/>
                </a:solidFill>
                <a:latin typeface="Georgia" pitchFamily="34" charset="0"/>
                <a:ea typeface="Georgia" pitchFamily="34" charset="-122"/>
                <a:cs typeface="Georgia" pitchFamily="34" charset="-120"/>
              </a:rPr>
              <a:t>03</a:t>
            </a:r>
            <a:endParaRPr lang="en-US" sz="2600" dirty="0"/>
          </a:p>
        </p:txBody>
      </p:sp>
      <p:sp>
        <p:nvSpPr>
          <p:cNvPr id="14" name="Text 11"/>
          <p:cNvSpPr/>
          <p:nvPr/>
        </p:nvSpPr>
        <p:spPr>
          <a:xfrm>
            <a:off x="8750808" y="3703320"/>
            <a:ext cx="2734056" cy="365760"/>
          </a:xfrm>
          <a:prstGeom prst="rect">
            <a:avLst/>
          </a:prstGeom>
          <a:noFill/>
          <a:ln/>
        </p:spPr>
        <p:txBody>
          <a:bodyPr wrap="square" lIns="0" tIns="0" rIns="0" bIns="0" rtlCol="0" anchor="ctr"/>
          <a:lstStyle/>
          <a:p>
            <a:pPr indent="0" marL="0">
              <a:buNone/>
            </a:pPr>
            <a:r>
              <a:rPr lang="en-US" sz="1800" dirty="0">
                <a:solidFill>
                  <a:srgbClr val="EFF1E9"/>
                </a:solidFill>
                <a:latin typeface="Georgia" pitchFamily="34" charset="0"/>
                <a:ea typeface="Georgia" pitchFamily="34" charset="-122"/>
                <a:cs typeface="Georgia" pitchFamily="34" charset="-120"/>
              </a:rPr>
              <a:t>Study together</a:t>
            </a:r>
            <a:endParaRPr lang="en-US" sz="1800" dirty="0"/>
          </a:p>
        </p:txBody>
      </p:sp>
      <p:sp>
        <p:nvSpPr>
          <p:cNvPr id="15" name="Text 12"/>
          <p:cNvSpPr/>
          <p:nvPr/>
        </p:nvSpPr>
        <p:spPr>
          <a:xfrm>
            <a:off x="8750808" y="4142232"/>
            <a:ext cx="2734056" cy="868680"/>
          </a:xfrm>
          <a:prstGeom prst="rect">
            <a:avLst/>
          </a:prstGeom>
          <a:noFill/>
          <a:ln/>
        </p:spPr>
        <p:txBody>
          <a:bodyPr wrap="square" lIns="0" tIns="0" rIns="0" bIns="0" rtlCol="0" anchor="ctr"/>
          <a:lstStyle/>
          <a:p>
            <a:pPr indent="0" marL="0">
              <a:lnSpc>
                <a:spcPts val="1700"/>
              </a:lnSpc>
              <a:buNone/>
            </a:pPr>
            <a:r>
              <a:rPr lang="en-US" sz="1250" dirty="0">
                <a:solidFill>
                  <a:srgbClr val="A9B4A3"/>
                </a:solidFill>
                <a:latin typeface="Calibri" pitchFamily="34" charset="0"/>
                <a:ea typeface="Calibri" pitchFamily="34" charset="-122"/>
                <a:cs typeface="Calibri" pitchFamily="34" charset="-120"/>
              </a:rPr>
              <a:t>Open the lobby, create a room, invite your friend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sessions/relaxed-intelligent-einstein/mnt/outputs/bg2/midday.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777240" y="566928"/>
            <a:ext cx="7315200" cy="292608"/>
          </a:xfrm>
          <a:prstGeom prst="rect">
            <a:avLst/>
          </a:prstGeom>
          <a:noFill/>
          <a:ln/>
        </p:spPr>
        <p:txBody>
          <a:bodyPr wrap="square" lIns="0" tIns="0" rIns="0" bIns="0" rtlCol="0" anchor="ctr"/>
          <a:lstStyle/>
          <a:p>
            <a:pPr indent="0" marL="0">
              <a:buNone/>
            </a:pPr>
            <a:r>
              <a:rPr lang="en-US" sz="1200" b="1" spc="260" kern="0" dirty="0">
                <a:solidFill>
                  <a:srgbClr val="4A6B4D"/>
                </a:solidFill>
                <a:latin typeface="Calibri" pitchFamily="34" charset="0"/>
                <a:ea typeface="Calibri" pitchFamily="34" charset="-122"/>
                <a:cs typeface="Calibri" pitchFamily="34" charset="-120"/>
              </a:rPr>
              <a:t>WHAT WE LEARNED</a:t>
            </a:r>
            <a:endParaRPr lang="en-US" sz="1200" dirty="0"/>
          </a:p>
        </p:txBody>
      </p:sp>
      <p:sp>
        <p:nvSpPr>
          <p:cNvPr id="4" name="Text 1"/>
          <p:cNvSpPr/>
          <p:nvPr/>
        </p:nvSpPr>
        <p:spPr>
          <a:xfrm>
            <a:off x="777240" y="960120"/>
            <a:ext cx="10515600" cy="822960"/>
          </a:xfrm>
          <a:prstGeom prst="rect">
            <a:avLst/>
          </a:prstGeom>
          <a:noFill/>
          <a:ln/>
        </p:spPr>
        <p:txBody>
          <a:bodyPr wrap="square" lIns="0" tIns="0" rIns="0" bIns="0" rtlCol="0" anchor="ctr"/>
          <a:lstStyle/>
          <a:p>
            <a:pPr indent="0" marL="0">
              <a:lnSpc>
                <a:spcPts val="4600"/>
              </a:lnSpc>
              <a:buNone/>
            </a:pPr>
            <a:r>
              <a:rPr lang="en-US" sz="3400" dirty="0">
                <a:solidFill>
                  <a:srgbClr val="22291D"/>
                </a:solidFill>
                <a:latin typeface="Georgia" pitchFamily="34" charset="0"/>
                <a:ea typeface="Georgia" pitchFamily="34" charset="-122"/>
                <a:cs typeface="Georgia" pitchFamily="34" charset="-120"/>
              </a:rPr>
              <a:t>Three things we know now.</a:t>
            </a:r>
            <a:endParaRPr lang="en-US" sz="3400" dirty="0"/>
          </a:p>
        </p:txBody>
      </p:sp>
      <p:sp>
        <p:nvSpPr>
          <p:cNvPr id="5" name="Text 2"/>
          <p:cNvSpPr/>
          <p:nvPr/>
        </p:nvSpPr>
        <p:spPr>
          <a:xfrm>
            <a:off x="777240" y="2194560"/>
            <a:ext cx="822960" cy="457200"/>
          </a:xfrm>
          <a:prstGeom prst="rect">
            <a:avLst/>
          </a:prstGeom>
          <a:noFill/>
          <a:ln/>
        </p:spPr>
        <p:txBody>
          <a:bodyPr wrap="square" lIns="0" tIns="0" rIns="0" bIns="0" rtlCol="0" anchor="ctr"/>
          <a:lstStyle/>
          <a:p>
            <a:pPr indent="0" marL="0">
              <a:buNone/>
            </a:pPr>
            <a:r>
              <a:rPr lang="en-US" sz="2400" dirty="0">
                <a:solidFill>
                  <a:srgbClr val="A3B7A5"/>
                </a:solidFill>
                <a:latin typeface="Georgia" pitchFamily="34" charset="0"/>
                <a:ea typeface="Georgia" pitchFamily="34" charset="-122"/>
                <a:cs typeface="Georgia" pitchFamily="34" charset="-120"/>
              </a:rPr>
              <a:t>01</a:t>
            </a:r>
            <a:endParaRPr lang="en-US" sz="2400" dirty="0"/>
          </a:p>
        </p:txBody>
      </p:sp>
      <p:sp>
        <p:nvSpPr>
          <p:cNvPr id="6" name="Text 3"/>
          <p:cNvSpPr/>
          <p:nvPr/>
        </p:nvSpPr>
        <p:spPr>
          <a:xfrm>
            <a:off x="1783080" y="2194560"/>
            <a:ext cx="9509760" cy="411480"/>
          </a:xfrm>
          <a:prstGeom prst="rect">
            <a:avLst/>
          </a:prstGeom>
          <a:noFill/>
          <a:ln/>
        </p:spPr>
        <p:txBody>
          <a:bodyPr wrap="square" lIns="0" tIns="0" rIns="0" bIns="0" rtlCol="0" anchor="ctr"/>
          <a:lstStyle/>
          <a:p>
            <a:pPr indent="0" marL="0">
              <a:buNone/>
            </a:pPr>
            <a:r>
              <a:rPr lang="en-US" sz="1900" b="1" dirty="0">
                <a:solidFill>
                  <a:srgbClr val="22291D"/>
                </a:solidFill>
                <a:latin typeface="Georgia" pitchFamily="34" charset="0"/>
                <a:ea typeface="Georgia" pitchFamily="34" charset="-122"/>
                <a:cs typeface="Georgia" pitchFamily="34" charset="-120"/>
              </a:rPr>
              <a:t>Real-time is a design problem, not just a technical one</a:t>
            </a:r>
            <a:endParaRPr lang="en-US" sz="1900" dirty="0"/>
          </a:p>
        </p:txBody>
      </p:sp>
      <p:sp>
        <p:nvSpPr>
          <p:cNvPr id="7" name="Text 4"/>
          <p:cNvSpPr/>
          <p:nvPr/>
        </p:nvSpPr>
        <p:spPr>
          <a:xfrm>
            <a:off x="1783080" y="2670048"/>
            <a:ext cx="9326880" cy="548640"/>
          </a:xfrm>
          <a:prstGeom prst="rect">
            <a:avLst/>
          </a:prstGeom>
          <a:noFill/>
          <a:ln/>
        </p:spPr>
        <p:txBody>
          <a:bodyPr wrap="square" lIns="0" tIns="0" rIns="0" bIns="0" rtlCol="0" anchor="ctr"/>
          <a:lstStyle/>
          <a:p>
            <a:pPr indent="0" marL="0">
              <a:lnSpc>
                <a:spcPts val="2000"/>
              </a:lnSpc>
              <a:buNone/>
            </a:pPr>
            <a:r>
              <a:rPr lang="en-US" sz="1450" dirty="0">
                <a:solidFill>
                  <a:srgbClr val="55604F"/>
                </a:solidFill>
                <a:latin typeface="Calibri" pitchFamily="34" charset="0"/>
                <a:ea typeface="Calibri" pitchFamily="34" charset="-122"/>
                <a:cs typeface="Calibri" pitchFamily="34" charset="-120"/>
              </a:rPr>
              <a:t>Live chat and shared room state forced us to decide what everyone sees, and when.</a:t>
            </a:r>
            <a:endParaRPr lang="en-US" sz="1450" dirty="0"/>
          </a:p>
        </p:txBody>
      </p:sp>
      <p:sp>
        <p:nvSpPr>
          <p:cNvPr id="8" name="Shape 5"/>
          <p:cNvSpPr/>
          <p:nvPr/>
        </p:nvSpPr>
        <p:spPr>
          <a:xfrm>
            <a:off x="777240" y="3364992"/>
            <a:ext cx="10515600" cy="0"/>
          </a:xfrm>
          <a:prstGeom prst="line">
            <a:avLst/>
          </a:prstGeom>
          <a:noFill/>
          <a:ln w="12700">
            <a:solidFill>
              <a:srgbClr val="D6DDD7"/>
            </a:solidFill>
            <a:prstDash val="solid"/>
          </a:ln>
        </p:spPr>
      </p:sp>
      <p:sp>
        <p:nvSpPr>
          <p:cNvPr id="9" name="Text 6"/>
          <p:cNvSpPr/>
          <p:nvPr/>
        </p:nvSpPr>
        <p:spPr>
          <a:xfrm>
            <a:off x="777240" y="3584448"/>
            <a:ext cx="822960" cy="457200"/>
          </a:xfrm>
          <a:prstGeom prst="rect">
            <a:avLst/>
          </a:prstGeom>
          <a:noFill/>
          <a:ln/>
        </p:spPr>
        <p:txBody>
          <a:bodyPr wrap="square" lIns="0" tIns="0" rIns="0" bIns="0" rtlCol="0" anchor="ctr"/>
          <a:lstStyle/>
          <a:p>
            <a:pPr indent="0" marL="0">
              <a:buNone/>
            </a:pPr>
            <a:r>
              <a:rPr lang="en-US" sz="2400" dirty="0">
                <a:solidFill>
                  <a:srgbClr val="A3B7A5"/>
                </a:solidFill>
                <a:latin typeface="Georgia" pitchFamily="34" charset="0"/>
                <a:ea typeface="Georgia" pitchFamily="34" charset="-122"/>
                <a:cs typeface="Georgia" pitchFamily="34" charset="-120"/>
              </a:rPr>
              <a:t>02</a:t>
            </a:r>
            <a:endParaRPr lang="en-US" sz="2400" dirty="0"/>
          </a:p>
        </p:txBody>
      </p:sp>
      <p:sp>
        <p:nvSpPr>
          <p:cNvPr id="10" name="Text 7"/>
          <p:cNvSpPr/>
          <p:nvPr/>
        </p:nvSpPr>
        <p:spPr>
          <a:xfrm>
            <a:off x="1783080" y="3584448"/>
            <a:ext cx="9509760" cy="411480"/>
          </a:xfrm>
          <a:prstGeom prst="rect">
            <a:avLst/>
          </a:prstGeom>
          <a:noFill/>
          <a:ln/>
        </p:spPr>
        <p:txBody>
          <a:bodyPr wrap="square" lIns="0" tIns="0" rIns="0" bIns="0" rtlCol="0" anchor="ctr"/>
          <a:lstStyle/>
          <a:p>
            <a:pPr indent="0" marL="0">
              <a:buNone/>
            </a:pPr>
            <a:r>
              <a:rPr lang="en-US" sz="1900" b="1" dirty="0">
                <a:solidFill>
                  <a:srgbClr val="22291D"/>
                </a:solidFill>
                <a:latin typeface="Georgia" pitchFamily="34" charset="0"/>
                <a:ea typeface="Georgia" pitchFamily="34" charset="-122"/>
                <a:cs typeface="Georgia" pitchFamily="34" charset="-120"/>
              </a:rPr>
              <a:t>The constraint was the feature</a:t>
            </a:r>
            <a:endParaRPr lang="en-US" sz="1900" dirty="0"/>
          </a:p>
        </p:txBody>
      </p:sp>
      <p:sp>
        <p:nvSpPr>
          <p:cNvPr id="11" name="Text 8"/>
          <p:cNvSpPr/>
          <p:nvPr/>
        </p:nvSpPr>
        <p:spPr>
          <a:xfrm>
            <a:off x="1783080" y="4059936"/>
            <a:ext cx="9326880" cy="548640"/>
          </a:xfrm>
          <a:prstGeom prst="rect">
            <a:avLst/>
          </a:prstGeom>
          <a:noFill/>
          <a:ln/>
        </p:spPr>
        <p:txBody>
          <a:bodyPr wrap="square" lIns="0" tIns="0" rIns="0" bIns="0" rtlCol="0" anchor="ctr"/>
          <a:lstStyle/>
          <a:p>
            <a:pPr indent="0" marL="0">
              <a:lnSpc>
                <a:spcPts val="2000"/>
              </a:lnSpc>
              <a:buNone/>
            </a:pPr>
            <a:r>
              <a:rPr lang="en-US" sz="1450" dirty="0">
                <a:solidFill>
                  <a:srgbClr val="55604F"/>
                </a:solidFill>
                <a:latin typeface="Calibri" pitchFamily="34" charset="0"/>
                <a:ea typeface="Calibri" pitchFamily="34" charset="-122"/>
                <a:cs typeface="Calibri" pitchFamily="34" charset="-120"/>
              </a:rPr>
              <a:t>Capping the tree at one level a day is what made a streak worth caring about.</a:t>
            </a:r>
            <a:endParaRPr lang="en-US" sz="1450" dirty="0"/>
          </a:p>
        </p:txBody>
      </p:sp>
      <p:sp>
        <p:nvSpPr>
          <p:cNvPr id="12" name="Shape 9"/>
          <p:cNvSpPr/>
          <p:nvPr/>
        </p:nvSpPr>
        <p:spPr>
          <a:xfrm>
            <a:off x="777240" y="4754880"/>
            <a:ext cx="10515600" cy="0"/>
          </a:xfrm>
          <a:prstGeom prst="line">
            <a:avLst/>
          </a:prstGeom>
          <a:noFill/>
          <a:ln w="12700">
            <a:solidFill>
              <a:srgbClr val="D6DDD7"/>
            </a:solidFill>
            <a:prstDash val="solid"/>
          </a:ln>
        </p:spPr>
      </p:sp>
      <p:sp>
        <p:nvSpPr>
          <p:cNvPr id="13" name="Text 10"/>
          <p:cNvSpPr/>
          <p:nvPr/>
        </p:nvSpPr>
        <p:spPr>
          <a:xfrm>
            <a:off x="777240" y="4974336"/>
            <a:ext cx="822960" cy="457200"/>
          </a:xfrm>
          <a:prstGeom prst="rect">
            <a:avLst/>
          </a:prstGeom>
          <a:noFill/>
          <a:ln/>
        </p:spPr>
        <p:txBody>
          <a:bodyPr wrap="square" lIns="0" tIns="0" rIns="0" bIns="0" rtlCol="0" anchor="ctr"/>
          <a:lstStyle/>
          <a:p>
            <a:pPr indent="0" marL="0">
              <a:buNone/>
            </a:pPr>
            <a:r>
              <a:rPr lang="en-US" sz="2400" dirty="0">
                <a:solidFill>
                  <a:srgbClr val="A3B7A5"/>
                </a:solidFill>
                <a:latin typeface="Georgia" pitchFamily="34" charset="0"/>
                <a:ea typeface="Georgia" pitchFamily="34" charset="-122"/>
                <a:cs typeface="Georgia" pitchFamily="34" charset="-120"/>
              </a:rPr>
              <a:t>03</a:t>
            </a:r>
            <a:endParaRPr lang="en-US" sz="2400" dirty="0"/>
          </a:p>
        </p:txBody>
      </p:sp>
      <p:sp>
        <p:nvSpPr>
          <p:cNvPr id="14" name="Text 11"/>
          <p:cNvSpPr/>
          <p:nvPr/>
        </p:nvSpPr>
        <p:spPr>
          <a:xfrm>
            <a:off x="1783080" y="4974336"/>
            <a:ext cx="9509760" cy="411480"/>
          </a:xfrm>
          <a:prstGeom prst="rect">
            <a:avLst/>
          </a:prstGeom>
          <a:noFill/>
          <a:ln/>
        </p:spPr>
        <p:txBody>
          <a:bodyPr wrap="square" lIns="0" tIns="0" rIns="0" bIns="0" rtlCol="0" anchor="ctr"/>
          <a:lstStyle/>
          <a:p>
            <a:pPr indent="0" marL="0">
              <a:buNone/>
            </a:pPr>
            <a:r>
              <a:rPr lang="en-US" sz="1900" b="1" dirty="0">
                <a:solidFill>
                  <a:srgbClr val="22291D"/>
                </a:solidFill>
                <a:latin typeface="Georgia" pitchFamily="34" charset="0"/>
                <a:ea typeface="Georgia" pitchFamily="34" charset="-122"/>
                <a:cs typeface="Georgia" pitchFamily="34" charset="-120"/>
              </a:rPr>
              <a:t>Our workflow mattered as much as our code</a:t>
            </a:r>
            <a:endParaRPr lang="en-US" sz="1900" dirty="0"/>
          </a:p>
        </p:txBody>
      </p:sp>
      <p:sp>
        <p:nvSpPr>
          <p:cNvPr id="15" name="Text 12"/>
          <p:cNvSpPr/>
          <p:nvPr/>
        </p:nvSpPr>
        <p:spPr>
          <a:xfrm>
            <a:off x="1783080" y="5449824"/>
            <a:ext cx="9326880" cy="548640"/>
          </a:xfrm>
          <a:prstGeom prst="rect">
            <a:avLst/>
          </a:prstGeom>
          <a:noFill/>
          <a:ln/>
        </p:spPr>
        <p:txBody>
          <a:bodyPr wrap="square" lIns="0" tIns="0" rIns="0" bIns="0" rtlCol="0" anchor="ctr"/>
          <a:lstStyle/>
          <a:p>
            <a:pPr indent="0" marL="0">
              <a:lnSpc>
                <a:spcPts val="2000"/>
              </a:lnSpc>
              <a:buNone/>
            </a:pPr>
            <a:r>
              <a:rPr lang="en-US" sz="1450" dirty="0">
                <a:solidFill>
                  <a:srgbClr val="55604F"/>
                </a:solidFill>
                <a:latin typeface="Calibri" pitchFamily="34" charset="0"/>
                <a:ea typeface="Calibri" pitchFamily="34" charset="-122"/>
                <a:cs typeface="Calibri" pitchFamily="34" charset="-120"/>
              </a:rPr>
              <a:t>Branches, reviews and migrations kept the team moving without overwriting each other.</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sessions/relaxed-intelligent-einstein/mnt/outputs/bg2/night_close.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sessions/relaxed-intelligent-einstein/mnt/outputs/t2/closehero_night.png">    </p:cNvPr>
          <p:cNvPicPr>
            <a:picLocks noChangeAspect="1"/>
          </p:cNvPicPr>
          <p:nvPr/>
        </p:nvPicPr>
        <p:blipFill>
          <a:blip r:embed="rId2"/>
          <a:stretch>
            <a:fillRect/>
          </a:stretch>
        </p:blipFill>
        <p:spPr>
          <a:xfrm>
            <a:off x="4487418" y="2622591"/>
            <a:ext cx="3214116" cy="3383280"/>
          </a:xfrm>
          <a:prstGeom prst="rect">
            <a:avLst/>
          </a:prstGeom>
        </p:spPr>
      </p:pic>
      <p:sp>
        <p:nvSpPr>
          <p:cNvPr id="4" name="Text 0"/>
          <p:cNvSpPr/>
          <p:nvPr/>
        </p:nvSpPr>
        <p:spPr>
          <a:xfrm>
            <a:off x="548640" y="914400"/>
            <a:ext cx="11091672" cy="777240"/>
          </a:xfrm>
          <a:prstGeom prst="rect">
            <a:avLst/>
          </a:prstGeom>
          <a:noFill/>
          <a:ln/>
        </p:spPr>
        <p:txBody>
          <a:bodyPr wrap="square" lIns="0" tIns="0" rIns="0" bIns="0" rtlCol="0" anchor="ctr"/>
          <a:lstStyle/>
          <a:p>
            <a:pPr algn="ctr" indent="0" marL="0">
              <a:buNone/>
            </a:pPr>
            <a:r>
              <a:rPr lang="en-US" sz="4000" i="1" dirty="0">
                <a:solidFill>
                  <a:srgbClr val="EFF1E9"/>
                </a:solidFill>
                <a:latin typeface="Georgia" pitchFamily="34" charset="0"/>
                <a:ea typeface="Georgia" pitchFamily="34" charset="-122"/>
                <a:cs typeface="Georgia" pitchFamily="34" charset="-120"/>
              </a:rPr>
              <a:t>Grow together.</a:t>
            </a:r>
            <a:endParaRPr lang="en-US" sz="4000" dirty="0"/>
          </a:p>
        </p:txBody>
      </p:sp>
      <p:sp>
        <p:nvSpPr>
          <p:cNvPr id="5" name="Text 1"/>
          <p:cNvSpPr/>
          <p:nvPr/>
        </p:nvSpPr>
        <p:spPr>
          <a:xfrm>
            <a:off x="548640" y="1783080"/>
            <a:ext cx="11091672" cy="457200"/>
          </a:xfrm>
          <a:prstGeom prst="rect">
            <a:avLst/>
          </a:prstGeom>
          <a:noFill/>
          <a:ln/>
        </p:spPr>
        <p:txBody>
          <a:bodyPr wrap="square" lIns="0" tIns="0" rIns="0" bIns="0" rtlCol="0" anchor="ctr"/>
          <a:lstStyle/>
          <a:p>
            <a:pPr algn="ctr" indent="0" marL="0">
              <a:buNone/>
            </a:pPr>
            <a:r>
              <a:rPr lang="en-US" sz="1700" spc="300" kern="0" dirty="0">
                <a:solidFill>
                  <a:srgbClr val="D5AE6B"/>
                </a:solidFill>
                <a:latin typeface="Calibri" pitchFamily="34" charset="0"/>
                <a:ea typeface="Calibri" pitchFamily="34" charset="-122"/>
                <a:cs typeface="Calibri" pitchFamily="34" charset="-120"/>
              </a:rPr>
              <a:t>Questions?</a:t>
            </a:r>
            <a:endParaRPr lang="en-US" sz="1700" dirty="0"/>
          </a:p>
        </p:txBody>
      </p:sp>
      <p:sp>
        <p:nvSpPr>
          <p:cNvPr id="6" name="Text 2"/>
          <p:cNvSpPr/>
          <p:nvPr/>
        </p:nvSpPr>
        <p:spPr>
          <a:xfrm>
            <a:off x="548640" y="5989320"/>
            <a:ext cx="11091672" cy="329184"/>
          </a:xfrm>
          <a:prstGeom prst="rect">
            <a:avLst/>
          </a:prstGeom>
          <a:noFill/>
          <a:ln/>
        </p:spPr>
        <p:txBody>
          <a:bodyPr wrap="square" lIns="0" tIns="0" rIns="0" bIns="0" rtlCol="0" anchor="ctr"/>
          <a:lstStyle/>
          <a:p>
            <a:pPr algn="ctr" indent="0" marL="0">
              <a:buNone/>
            </a:pPr>
            <a:r>
              <a:rPr lang="en-US" sz="1250" spc="140" kern="0" dirty="0">
                <a:solidFill>
                  <a:srgbClr val="A9B4A3"/>
                </a:solidFill>
                <a:latin typeface="Calibri" pitchFamily="34" charset="0"/>
                <a:ea typeface="Calibri" pitchFamily="34" charset="-122"/>
                <a:cs typeface="Calibri" pitchFamily="34" charset="-120"/>
              </a:rPr>
              <a:t>BTeamBros  ·  Grove  ·  CS160</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Grove — CS160 Final Presentation</dc:title>
  <dc:subject>PptxGenJS Presentation</dc:subject>
  <dc:creator>BTeamBros</dc:creator>
  <cp:lastModifiedBy>BTeamBros</cp:lastModifiedBy>
  <cp:revision>1</cp:revision>
  <dcterms:created xsi:type="dcterms:W3CDTF">2026-08-05T05:45:28Z</dcterms:created>
  <dcterms:modified xsi:type="dcterms:W3CDTF">2026-08-05T05:45:28Z</dcterms:modified>
</cp:coreProperties>
</file>